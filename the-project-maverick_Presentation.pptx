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70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9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88952" cy="2194560"/>
          </a:xfrm>
          <a:prstGeom prst="rect">
            <a:avLst/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31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262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340864"/>
            <a:ext cx="11247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B4D8"/>
                </a:solidFill>
              </a:rPr>
              <a:t>ML Algorithmic Trading </a:t>
            </a:r>
            <a:r>
              <a:rPr lang="en-US" sz="4400" b="1" dirty="0" err="1">
                <a:solidFill>
                  <a:srgbClr val="00B4D8"/>
                </a:solidFill>
              </a:rPr>
              <a:t>Subteam</a:t>
            </a:r>
            <a:endParaRPr lang="en-US" sz="4400" b="1" dirty="0">
              <a:solidFill>
                <a:srgbClr val="00B4D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090672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Real-Time ML-Powered Stock Price Prediction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7365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4D8"/>
                </a:solidFill>
              </a:rPr>
              <a:t>Presenting: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4736592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</a:rPr>
              <a:t>Zane, Harsh, Dante, Kaval, Parag and Guntash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0840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4D8"/>
                </a:solidFill>
              </a:rPr>
              <a:t>Course: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50840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COSC 471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4315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4D8"/>
                </a:solidFill>
              </a:rPr>
              <a:t>Department: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4315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Computer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779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4D8"/>
                </a:solidFill>
              </a:rPr>
              <a:t>Institution: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779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Okanagan College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6126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4D8"/>
                </a:solidFill>
              </a:rPr>
              <a:t>Year of Study: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6126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4th Year,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• Customer and stakeholders</a:t>
            </a:r>
          </a:p>
          <a:p>
            <a:r>
              <a:rPr sz="1700">
                <a:solidFill>
                  <a:srgbClr val="FFFFFF"/>
                </a:solidFill>
              </a:rPr>
              <a:t>• Business requirements and Vision highlights</a:t>
            </a:r>
          </a:p>
          <a:p>
            <a:r>
              <a:rPr sz="1700">
                <a:solidFill>
                  <a:srgbClr val="FFFFFF"/>
                </a:solidFill>
              </a:rPr>
              <a:t>• Architecture</a:t>
            </a:r>
          </a:p>
          <a:p>
            <a:r>
              <a:rPr sz="1700">
                <a:solidFill>
                  <a:srgbClr val="FFFFFF"/>
                </a:solidFill>
              </a:rPr>
              <a:t>• Configuration management and internal standards</a:t>
            </a:r>
          </a:p>
          <a:p>
            <a:r>
              <a:rPr sz="1700">
                <a:solidFill>
                  <a:srgbClr val="FFFFFF"/>
                </a:solidFill>
              </a:rPr>
              <a:t>• Planning overview, workload, and lessons learned</a:t>
            </a:r>
          </a:p>
          <a:p>
            <a:r>
              <a:rPr sz="1700">
                <a:solidFill>
                  <a:srgbClr val="FFFFFF"/>
                </a:solidFill>
              </a:rPr>
              <a:t>• Risk management</a:t>
            </a:r>
          </a:p>
          <a:p>
            <a:r>
              <a:rPr sz="1700">
                <a:solidFill>
                  <a:srgbClr val="FFFFFF"/>
                </a:solidFill>
              </a:rPr>
              <a:t>• Design</a:t>
            </a:r>
          </a:p>
          <a:p>
            <a:r>
              <a:rPr sz="1700">
                <a:solidFill>
                  <a:srgbClr val="FFFFFF"/>
                </a:solidFill>
              </a:rPr>
              <a:t>• Code — backend, infrastructure, and testing</a:t>
            </a:r>
          </a:p>
          <a:p>
            <a:r>
              <a:rPr sz="1700">
                <a:solidFill>
                  <a:srgbClr val="FFFFFF"/>
                </a:solidFill>
              </a:rPr>
              <a:t>• Testing results — internal and UAT</a:t>
            </a:r>
          </a:p>
          <a:p>
            <a:r>
              <a:rPr sz="1700">
                <a:solidFill>
                  <a:srgbClr val="FFFFFF"/>
                </a:solidFill>
              </a:rPr>
              <a:t>• Refactoring and change control</a:t>
            </a:r>
          </a:p>
          <a:p>
            <a:r>
              <a:rPr sz="1700">
                <a:solidFill>
                  <a:srgbClr val="FFFFFF"/>
                </a:solidFill>
              </a:rPr>
              <a:t>• Release v1.0.0 · Reference · Summary</a:t>
            </a:r>
          </a:p>
          <a:p>
            <a:r>
              <a:rPr sz="1700">
                <a:solidFill>
                  <a:srgbClr val="FFFFFF"/>
                </a:solidFill>
              </a:rPr>
              <a:t>• Live demonstration</a:t>
            </a:r>
          </a:p>
          <a:p>
            <a:r>
              <a:rPr sz="1700">
                <a:solidFill>
                  <a:srgbClr val="FFFFFF"/>
                </a:solidFill>
              </a:rPr>
              <a:t>• Q&amp;A  (10–15 minutes)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Team and Individual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056571"/>
              </p:ext>
            </p:extLst>
          </p:nvPr>
        </p:nvGraphicFramePr>
        <p:xfrm>
          <a:off x="457200" y="1280160"/>
          <a:ext cx="1124712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Team Member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Harsh Kumar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FFFFFF"/>
                          </a:solidFill>
                        </a:rPr>
                        <a:t>Lead Backend / ML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XGBoost ModelManager, pandas feature pipeline, API core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Parag Jindal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FFFFFF"/>
                          </a:solidFill>
                        </a:rPr>
                        <a:t>Backend / Schemas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Prediction API routes, Pydantic v2 schemas, WebSocket research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KavalS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FFFFFF"/>
                          </a:solidFill>
                        </a:rPr>
                        <a:t>Frontend Lead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React 19 architecture, TanStack Router/Query, chart stability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Guntash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FFFFFF"/>
                          </a:solidFill>
                        </a:rPr>
                        <a:t>Frontend UI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Recharts/Lightweight Charts, dashboard components, tooltips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Zane (Foochini)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FFFFFF"/>
                          </a:solidFill>
                        </a:rPr>
                        <a:t>DevOps / 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Scrum Master</a:t>
                      </a:r>
                      <a:endParaRPr sz="13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FFFFFF"/>
                          </a:solidFill>
                        </a:rPr>
                        <a:t>Docker Compose, GitHub Actions CI, </a:t>
                      </a:r>
                      <a:r>
                        <a:rPr sz="1300" dirty="0" err="1">
                          <a:solidFill>
                            <a:srgbClr val="FFFFFF"/>
                          </a:solidFill>
                        </a:rPr>
                        <a:t>pytest</a:t>
                      </a:r>
                      <a:r>
                        <a:rPr sz="1300" dirty="0">
                          <a:solidFill>
                            <a:srgbClr val="FFFFFF"/>
                          </a:solidFill>
                        </a:rPr>
                        <a:t> suite, all documentation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Who Is the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Primary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486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FFFFFF"/>
                </a:solidFill>
              </a:rPr>
              <a:t>• Course instructors / evaluators</a:t>
            </a:r>
          </a:p>
          <a:p>
            <a:r>
              <a:rPr sz="2000" dirty="0">
                <a:solidFill>
                  <a:srgbClr val="CCD6E0"/>
                </a:solidFill>
              </a:rPr>
              <a:t>    - Assess engineering process, docs, and quality</a:t>
            </a:r>
          </a:p>
          <a:p>
            <a:r>
              <a:rPr sz="2000" dirty="0">
                <a:solidFill>
                  <a:srgbClr val="FFFFFF"/>
                </a:solidFill>
              </a:rPr>
              <a:t>• Development team</a:t>
            </a:r>
          </a:p>
          <a:p>
            <a:r>
              <a:rPr sz="2000" dirty="0">
                <a:solidFill>
                  <a:srgbClr val="CCD6E0"/>
                </a:solidFill>
              </a:rPr>
              <a:t>    - Build, operate, and maintain the system</a:t>
            </a:r>
          </a:p>
          <a:p>
            <a:r>
              <a:rPr sz="2000" dirty="0">
                <a:solidFill>
                  <a:srgbClr val="FFFFFF"/>
                </a:solidFill>
              </a:rPr>
              <a:t>• Financial data APIs (e.g. FMP)</a:t>
            </a:r>
          </a:p>
          <a:p>
            <a:r>
              <a:rPr sz="2000" dirty="0">
                <a:solidFill>
                  <a:srgbClr val="CCD6E0"/>
                </a:solidFill>
              </a:rPr>
              <a:t>    - Rate limits and availability constrain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8" y="1234440"/>
            <a:ext cx="22860" cy="5212080"/>
          </a:xfrm>
          <a:prstGeom prst="rect">
            <a:avLst/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End Users (the Product)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486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FFFFFF"/>
                </a:solidFill>
              </a:rPr>
              <a:t>• Retail investors</a:t>
            </a:r>
          </a:p>
          <a:p>
            <a:r>
              <a:rPr sz="2000" dirty="0">
                <a:solidFill>
                  <a:srgbClr val="CCD6E0"/>
                </a:solidFill>
              </a:rPr>
              <a:t>    - Simple dashboard — predictions vs. actuals</a:t>
            </a:r>
          </a:p>
          <a:p>
            <a:r>
              <a:rPr sz="2000" dirty="0">
                <a:solidFill>
                  <a:srgbClr val="CCD6E0"/>
                </a:solidFill>
              </a:rPr>
              <a:t>    - Transparent accuracy — see if the model was right</a:t>
            </a:r>
          </a:p>
          <a:p>
            <a:r>
              <a:rPr sz="2000" dirty="0">
                <a:solidFill>
                  <a:srgbClr val="FFFFFF"/>
                </a:solidFill>
              </a:rPr>
              <a:t>• Day traders</a:t>
            </a:r>
          </a:p>
          <a:p>
            <a:r>
              <a:rPr sz="2000" dirty="0">
                <a:solidFill>
                  <a:srgbClr val="CCD6E0"/>
                </a:solidFill>
              </a:rPr>
              <a:t>    - Low-latency data and technical indicators</a:t>
            </a:r>
          </a:p>
          <a:p>
            <a:r>
              <a:rPr sz="2000" dirty="0">
                <a:solidFill>
                  <a:srgbClr val="CCD6E0"/>
                </a:solidFill>
              </a:rPr>
              <a:t>    - RSI, MACD, Bollinger Bands in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Business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486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FFFFFF"/>
                </a:solidFill>
              </a:rPr>
              <a:t>• Retail investors lack institutional-grade prediction tools</a:t>
            </a:r>
          </a:p>
          <a:p>
            <a:r>
              <a:rPr sz="2000" dirty="0">
                <a:solidFill>
                  <a:srgbClr val="FFFFFF"/>
                </a:solidFill>
              </a:rPr>
              <a:t>• Existing tools hide whether predictions were ever correct</a:t>
            </a:r>
          </a:p>
          <a:p>
            <a:r>
              <a:rPr sz="2000" dirty="0">
                <a:solidFill>
                  <a:srgbClr val="FFFFFF"/>
                </a:solidFill>
              </a:rPr>
              <a:t>• Setup complexity keeps individual traders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8" y="1234440"/>
            <a:ext cx="22860" cy="5212080"/>
          </a:xfrm>
          <a:prstGeom prst="rect">
            <a:avLst/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Our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486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FFFFFF"/>
                </a:solidFill>
              </a:rPr>
              <a:t>• Sub-100 </a:t>
            </a:r>
            <a:r>
              <a:rPr sz="2000" dirty="0" err="1">
                <a:solidFill>
                  <a:srgbClr val="FFFFFF"/>
                </a:solidFill>
              </a:rPr>
              <a:t>ms</a:t>
            </a:r>
            <a:r>
              <a:rPr sz="2000" dirty="0">
                <a:solidFill>
                  <a:srgbClr val="FFFFFF"/>
                </a:solidFill>
              </a:rPr>
              <a:t> predictions — not batch-only insights</a:t>
            </a:r>
          </a:p>
          <a:p>
            <a:r>
              <a:rPr sz="2000" dirty="0">
                <a:solidFill>
                  <a:srgbClr val="FFFFFF"/>
                </a:solidFill>
              </a:rPr>
              <a:t>• Persist predictions + actuals so accuracy is publicly verifiable</a:t>
            </a:r>
          </a:p>
          <a:p>
            <a:r>
              <a:rPr sz="2000" dirty="0">
                <a:solidFill>
                  <a:srgbClr val="FFFFFF"/>
                </a:solidFill>
              </a:rPr>
              <a:t>• Docker Compose one-command deploy — accessible to everyone</a:t>
            </a:r>
          </a:p>
          <a:p>
            <a:r>
              <a:rPr sz="2000" dirty="0">
                <a:solidFill>
                  <a:srgbClr val="FFFFFF"/>
                </a:solidFill>
              </a:rPr>
              <a:t>• Meet all COSC 471 software engineering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Vision Document — Features and Quality 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FEA-01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Real-time OHLCV data ingestion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FEA-02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Feature engineering — RSI, MACD, Bollinger Bands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FEA-03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XGBoost inference with confidence output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FEA-04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Interactive React dashboard with charts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FEA-05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Historical accuracy tracking in PostgreSQL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FEA-06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REST API  (WebSocket on roadmap)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REST delivered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Quality bar:  &gt;=80% pytest coverage  |  API latency &lt;100 ms  |  Docker-deployable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4D8"/>
                </a:solidFill>
              </a:rPr>
              <a:t>System Overview — Three Layers, One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9" y="1456112"/>
            <a:ext cx="966493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1.  DATA LAYER — Postgres Warehouse
      •  15-min OHLCV bars for 500+ stocks + macro / Treasury inputs
      •  Pre-computed features: RSI, MACD, Bollinger Bands, lags, returns, calendar fields
      •  Canonical source of truth for both training and inference
2.  BACKEND — ML Pipeline &amp; Serving
      •  Ingests market data → computes features → trains </a:t>
            </a:r>
            <a:r>
              <a:rPr lang="en-US" sz="2000" dirty="0" err="1">
                <a:solidFill>
                  <a:srgbClr val="FFFFFF"/>
                </a:solidFill>
              </a:rPr>
              <a:t>XGBoost</a:t>
            </a:r>
            <a:r>
              <a:rPr lang="en-US" sz="2000" dirty="0">
                <a:solidFill>
                  <a:srgbClr val="FFFFFF"/>
                </a:solidFill>
              </a:rPr>
              <a:t> → saves artifact
      •  Inference service loads saved artifact and scores fresh feature rows
      •  Training and inference are fully decoupled — no retraining at serve time
3.  FRONTEND — Visualization &amp; Inspection
      •  Side-by-side charts: predicted price vs. actual market movement
      •  Symbol selector, prediction overlays, model output views
      •  Turns the ML pipeline into a usable, demo-able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412" y="1645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rgbClr val="00B4D8"/>
                </a:solidFill>
              </a:rPr>
              <a:t>System Overview — End-to-End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F6B404-0F21-773D-DECC-8D5C4BE2132C}"/>
              </a:ext>
            </a:extLst>
          </p:cNvPr>
          <p:cNvSpPr txBox="1"/>
          <p:nvPr/>
        </p:nvSpPr>
        <p:spPr>
          <a:xfrm>
            <a:off x="411480" y="109728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
   Historical data + features  →  Postgres warehouse
              ↓
   Training job reads from warehouse  →  </a:t>
            </a:r>
            <a:r>
              <a:rPr sz="1600" b="0" i="0" dirty="0" err="1">
                <a:solidFill>
                  <a:srgbClr val="FFFFFF"/>
                </a:solidFill>
              </a:rPr>
              <a:t>XGBoost</a:t>
            </a:r>
            <a:r>
              <a:rPr sz="1600" b="0" i="0" dirty="0">
                <a:solidFill>
                  <a:srgbClr val="FFFFFF"/>
                </a:solidFill>
              </a:rPr>
              <a:t> trains
              ↓
   Trained model artifact saved to disk  (</a:t>
            </a:r>
            <a:r>
              <a:rPr sz="1600" b="0" i="0" dirty="0" err="1">
                <a:solidFill>
                  <a:srgbClr val="FFFFFF"/>
                </a:solidFill>
              </a:rPr>
              <a:t>model_artifacts</a:t>
            </a:r>
            <a:r>
              <a:rPr sz="1600" b="0" i="0" dirty="0">
                <a:solidFill>
                  <a:srgbClr val="FFFFFF"/>
                </a:solidFill>
              </a:rPr>
              <a:t>/)
              ↓
   Inference service loads artifact  →  scores fresh feature rows
              ↓
   Frontend visualizes predictions vs. actual price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Architecture —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What Happens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Key Detail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1  Ingest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Background poller fetches OHLCV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Mocked in dev; real API in prod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2  Process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pandas computes RSI, MACD, Bollinger Bands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Rolling-window calculations on raw bars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3  Infer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XGBoost bundle predicts next close price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Sub-35 ms  |  bundle selected via ACTIVE_MODEL env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4  Persist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Prediction + actual stored in Postgres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Enables accuracy tracking over time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5  Consume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Frontend fetches via REST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Chart renders predicted vs. actual side by side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1664790-D977-94DD-0E78-2662773D6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45" y="3870960"/>
            <a:ext cx="3629311" cy="26770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Configuration Management — Version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Git Branching (Modified Git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main  — production-ready; version tags here</a:t>
            </a:r>
          </a:p>
          <a:p>
            <a:r>
              <a:rPr sz="1500">
                <a:solidFill>
                  <a:srgbClr val="FFFFFF"/>
                </a:solidFill>
              </a:rPr>
              <a:t>• develop  — integration branch</a:t>
            </a:r>
          </a:p>
          <a:p>
            <a:r>
              <a:rPr sz="1500">
                <a:solidFill>
                  <a:srgbClr val="FFFFFF"/>
                </a:solidFill>
              </a:rPr>
              <a:t>• feature/&lt;issue-id&gt;-&lt;desc&gt;</a:t>
            </a:r>
          </a:p>
          <a:p>
            <a:r>
              <a:rPr sz="1500">
                <a:solidFill>
                  <a:srgbClr val="FFFFFF"/>
                </a:solidFill>
              </a:rPr>
              <a:t>• bugfix/&lt;issue-id&gt;-&lt;desc&gt;</a:t>
            </a:r>
          </a:p>
          <a:p>
            <a:r>
              <a:rPr sz="1500">
                <a:solidFill>
                  <a:srgbClr val="FFFFFF"/>
                </a:solidFill>
              </a:rPr>
              <a:t>• hotfix/&lt;issue-id&gt;-&lt;desc&gt;</a:t>
            </a:r>
          </a:p>
          <a:p>
            <a:r>
              <a:rPr sz="1500">
                <a:solidFill>
                  <a:srgbClr val="FFFFFF"/>
                </a:solidFill>
              </a:rPr>
              <a:t>• PRs required for all merges to develop and 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8" y="1234440"/>
            <a:ext cx="22860" cy="5212080"/>
          </a:xfrm>
          <a:prstGeom prst="rect">
            <a:avLst/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Commit Convention (Conventional Commits)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feat:   new feature</a:t>
            </a:r>
          </a:p>
          <a:p>
            <a:r>
              <a:rPr sz="1500">
                <a:solidFill>
                  <a:srgbClr val="FFFFFF"/>
                </a:solidFill>
              </a:rPr>
              <a:t>• fix:    bug fix</a:t>
            </a:r>
          </a:p>
          <a:p>
            <a:r>
              <a:rPr sz="1500">
                <a:solidFill>
                  <a:srgbClr val="FFFFFF"/>
                </a:solidFill>
              </a:rPr>
              <a:t>• docs:   documentation only</a:t>
            </a:r>
          </a:p>
          <a:p>
            <a:r>
              <a:rPr sz="1500">
                <a:solidFill>
                  <a:srgbClr val="FFFFFF"/>
                </a:solidFill>
              </a:rPr>
              <a:t>• refactor:   no bug fix / no new feature</a:t>
            </a:r>
          </a:p>
          <a:p>
            <a:r>
              <a:rPr sz="1500">
                <a:solidFill>
                  <a:srgbClr val="FFFFFF"/>
                </a:solidFill>
              </a:rPr>
              <a:t>• test:   adding or correcting tests</a:t>
            </a:r>
          </a:p>
          <a:p>
            <a:r>
              <a:rPr sz="1500">
                <a:solidFill>
                  <a:srgbClr val="FFFFFF"/>
                </a:solidFill>
              </a:rPr>
              <a:t>• Change requests: GitHub Issues with change-request label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CM — Internal Standards and Release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What It Enforces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ruff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PEP 8 lint + auto-format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mypy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Static type checking on app/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TypeScript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Biome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Strict TS, Airbnb-style formatting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Backend deps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uv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Pinned, reproducible env via uv.lock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DB schema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Alembic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Migration-based, version-controlled schema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Release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SemVer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MAJOR.MINOR.PATCH tagged on main after CI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All standards enforced in CI — a PR that fails ruff or mypy cannot merge.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B4D8"/>
                </a:solidFill>
              </a:rPr>
              <a:t>CI/CD Pipeline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12880" cy="5166360"/>
          </a:xfrm>
          <a:prstGeom prst="rect">
            <a:avLst/>
          </a:prstGeom>
          <a:solidFill>
            <a:srgbClr val="102436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55680" cy="5001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A8D8EA"/>
                </a:solidFill>
                <a:latin typeface="Courier New"/>
              </a:rPr>
              <a:t># .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github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/workflows/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ci.yml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 (runs on every PR to main)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jobs: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backend-lint:       # ruff check + ruff format --check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backend-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typecheck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:  #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mypy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app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backend-test: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services: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 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postgres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: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    image: postgres:16          # real DB in CI -- no mocks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    options: --health-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cmd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'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pg_isready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-U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postgres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'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steps: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  - run: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uv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sync --frozen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  - run: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uv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run alembic upgrade head   # real migrations before tests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  - run: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uv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run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pytest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tests/ -v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frontend-lint:      # Biome check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frontend-build:     # bun run build</a:t>
            </a:r>
          </a:p>
          <a:p>
            <a:endParaRPr sz="1250" dirty="0">
              <a:solidFill>
                <a:srgbClr val="A8D8EA"/>
              </a:solidFill>
              <a:latin typeface="Courier New"/>
            </a:endParaRP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# All five jobs must pass before a PR can merge.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Planning Overview — Agile Scrum, Two-Week Sprints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D1B2A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M1 Architecture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Week 2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DB schema, Dockerfiles, UML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M2 Backend Beta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Week 4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API predicting mock data, Swagger active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M3 Frontend Alpha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Week 6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MVP dashboard rendering predictions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M4 Production Ready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Week 8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Tests &gt;80%, all bugs patched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M5 Final Delivery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Week 10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Documentation, demo, presentation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Epic 1 — Infrastructure (Git, CI, Docker, Alembic)  — mainly Zane</a:t>
            </a:r>
          </a:p>
          <a:p>
            <a:r>
              <a:rPr sz="1500">
                <a:solidFill>
                  <a:srgbClr val="FFFFFF"/>
                </a:solidFill>
              </a:rPr>
              <a:t>• Epic 2 — Core backend (polling, features, XGBoost, REST API)</a:t>
            </a:r>
          </a:p>
          <a:p>
            <a:r>
              <a:rPr sz="1500">
                <a:solidFill>
                  <a:srgbClr val="FFFFFF"/>
                </a:solidFill>
              </a:rPr>
              <a:t>• Epic 3 — Visualization (React, charts, symbol selection)</a:t>
            </a:r>
          </a:p>
          <a:p>
            <a:r>
              <a:rPr sz="1500">
                <a:solidFill>
                  <a:srgbClr val="FFFFFF"/>
                </a:solidFill>
              </a:rPr>
              <a:t>• Epic 4 — QA and finalization (coverage, docs, deployment)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Risk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430000" cy="290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RSK-01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API rate limits throttle data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Caching + mock fallback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Mitigated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RSK-02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Model drift over time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Versioned bundles + retrain pipeline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Ongoing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RSK-03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Async complexity slips timeline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REST-first; WebSocket deferred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Resolved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RSK-04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DB overload on high-freq writes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Indexes; TimescaleDB path (CR-003)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Mitigated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RSK-05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WebSocket handshake unstable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Deferred to v1.1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RSK-06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Docker image 2.5 GB (ISSUE-25)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Multi-stage build planned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rgbClr val="00B4D8"/>
                </a:solidFill>
              </a:rPr>
              <a:t>Design — Key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566672"/>
            <a:ext cx="112471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solidFill>
                  <a:srgbClr val="FFFFFF"/>
                </a:solidFill>
              </a:rPr>
              <a:t> GET  /</a:t>
            </a:r>
            <a:r>
              <a:rPr lang="en-CA" sz="1400" dirty="0" err="1">
                <a:solidFill>
                  <a:srgbClr val="FFFFFF"/>
                </a:solidFill>
              </a:rPr>
              <a:t>api</a:t>
            </a:r>
            <a:r>
              <a:rPr lang="en-CA" sz="1400" dirty="0">
                <a:solidFill>
                  <a:srgbClr val="FFFFFF"/>
                </a:solidFill>
              </a:rPr>
              <a:t>/v1/utils/health-check/
         Returns true when backend is up
  GET  /</a:t>
            </a:r>
            <a:r>
              <a:rPr lang="en-CA" sz="1400" dirty="0" err="1">
                <a:solidFill>
                  <a:srgbClr val="FFFFFF"/>
                </a:solidFill>
              </a:rPr>
              <a:t>api</a:t>
            </a:r>
            <a:r>
              <a:rPr lang="en-CA" sz="1400" dirty="0">
                <a:solidFill>
                  <a:srgbClr val="FFFFFF"/>
                </a:solidFill>
              </a:rPr>
              <a:t>/v1/inference/predict/{symbol}
         Runs saved </a:t>
            </a:r>
            <a:r>
              <a:rPr lang="en-CA" sz="1400" dirty="0" err="1">
                <a:solidFill>
                  <a:srgbClr val="FFFFFF"/>
                </a:solidFill>
              </a:rPr>
              <a:t>XGBoost</a:t>
            </a:r>
            <a:r>
              <a:rPr lang="en-CA" sz="1400" dirty="0">
                <a:solidFill>
                  <a:srgbClr val="FFFFFF"/>
                </a:solidFill>
              </a:rPr>
              <a:t> artifact → </a:t>
            </a:r>
            <a:r>
              <a:rPr lang="en-CA" sz="1400" dirty="0" err="1">
                <a:solidFill>
                  <a:srgbClr val="FFFFFF"/>
                </a:solidFill>
              </a:rPr>
              <a:t>NextDayPredictionResponse</a:t>
            </a:r>
            <a:r>
              <a:rPr lang="en-CA" sz="1400" dirty="0">
                <a:solidFill>
                  <a:srgbClr val="FFFFFF"/>
                </a:solidFill>
              </a:rPr>
              <a:t>
         404 if symbol unknown  |  400 on bad input  |  500 on error
  GET  /</a:t>
            </a:r>
            <a:r>
              <a:rPr lang="en-CA" sz="1400" dirty="0" err="1">
                <a:solidFill>
                  <a:srgbClr val="FFFFFF"/>
                </a:solidFill>
              </a:rPr>
              <a:t>api</a:t>
            </a:r>
            <a:r>
              <a:rPr lang="en-CA" sz="1400" dirty="0">
                <a:solidFill>
                  <a:srgbClr val="FFFFFF"/>
                </a:solidFill>
              </a:rPr>
              <a:t>/v1/simulation/session
         Returns 26 intraday steps for 502 symbols from pre-computed CSVs
         Zero DB I/O — entirely file-based
  GET  /</a:t>
            </a:r>
            <a:r>
              <a:rPr lang="en-CA" sz="1400" dirty="0" err="1">
                <a:solidFill>
                  <a:srgbClr val="FFFFFF"/>
                </a:solidFill>
              </a:rPr>
              <a:t>api</a:t>
            </a:r>
            <a:r>
              <a:rPr lang="en-CA" sz="1400" dirty="0">
                <a:solidFill>
                  <a:srgbClr val="FFFFFF"/>
                </a:solidFill>
              </a:rPr>
              <a:t>/v1/market/stocks
         Returns list of active stocks (</a:t>
            </a:r>
            <a:r>
              <a:rPr lang="en-CA" sz="1400" dirty="0" err="1">
                <a:solidFill>
                  <a:srgbClr val="FFFFFF"/>
                </a:solidFill>
              </a:rPr>
              <a:t>StockRead</a:t>
            </a:r>
            <a:r>
              <a:rPr lang="en-CA" sz="1400" dirty="0">
                <a:solidFill>
                  <a:srgbClr val="FFFFFF"/>
                </a:solidFill>
              </a:rPr>
              <a:t>)
  GET  /</a:t>
            </a:r>
            <a:r>
              <a:rPr lang="en-CA" sz="1400" dirty="0" err="1">
                <a:solidFill>
                  <a:srgbClr val="FFFFFF"/>
                </a:solidFill>
              </a:rPr>
              <a:t>api</a:t>
            </a:r>
            <a:r>
              <a:rPr lang="en-CA" sz="1400" dirty="0">
                <a:solidFill>
                  <a:srgbClr val="FFFFFF"/>
                </a:solidFill>
              </a:rPr>
              <a:t>/v1/market/</a:t>
            </a:r>
            <a:r>
              <a:rPr lang="en-CA" sz="1400" dirty="0" err="1">
                <a:solidFill>
                  <a:srgbClr val="FFFFFF"/>
                </a:solidFill>
              </a:rPr>
              <a:t>ohlc</a:t>
            </a:r>
            <a:r>
              <a:rPr lang="en-CA" sz="1400" dirty="0">
                <a:solidFill>
                  <a:srgbClr val="FFFFFF"/>
                </a:solidFill>
              </a:rPr>
              <a:t>/{symbol}
         Returns OHLC bars as Unix timestamps for charting
  ➜  Simulation module: 502 symbols × 26 intraday steps </a:t>
            </a:r>
            <a:endParaRPr sz="1500" b="1" i="0" dirty="0">
              <a:solidFill>
                <a:srgbClr val="00B4D8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Design — Domain Model and Layer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Core 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Stock  —  ticker, name, sector, exchange, is_active</a:t>
            </a:r>
          </a:p>
          <a:p>
            <a:r>
              <a:rPr sz="1500">
                <a:solidFill>
                  <a:srgbClr val="FFFFFF"/>
                </a:solidFill>
              </a:rPr>
              <a:t>• DailyPrice / OHLC bars  —  raw price time series</a:t>
            </a:r>
          </a:p>
          <a:p>
            <a:r>
              <a:rPr sz="1500">
                <a:solidFill>
                  <a:srgbClr val="FFFFFF"/>
                </a:solidFill>
              </a:rPr>
              <a:t>• Prediction  —  model output + confidence score</a:t>
            </a:r>
          </a:p>
          <a:p>
            <a:r>
              <a:rPr sz="1500">
                <a:solidFill>
                  <a:srgbClr val="FFFFFF"/>
                </a:solidFill>
              </a:rPr>
              <a:t>• Pydantic v2 schemas</a:t>
            </a:r>
          </a:p>
          <a:p>
            <a:r>
              <a:rPr sz="1300">
                <a:solidFill>
                  <a:srgbClr val="CCD6E0"/>
                </a:solidFill>
              </a:rPr>
              <a:t>    - StockRead, OHLCRead, NextDayPredictionResponse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8" y="1234440"/>
            <a:ext cx="22860" cy="5212080"/>
          </a:xfrm>
          <a:prstGeom prst="rect">
            <a:avLst/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Layer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Routers  -&gt;  Services  -&gt;  CRUD  -&gt;  SQLAlchemy  -&gt;  Postgres</a:t>
            </a:r>
          </a:p>
          <a:p>
            <a:r>
              <a:rPr sz="1500">
                <a:solidFill>
                  <a:srgbClr val="FFFFFF"/>
                </a:solidFill>
              </a:rPr>
              <a:t>• Inference specifically:</a:t>
            </a:r>
          </a:p>
          <a:p>
            <a:r>
              <a:rPr sz="1300">
                <a:solidFill>
                  <a:srgbClr val="CCD6E0"/>
                </a:solidFill>
              </a:rPr>
              <a:t>    - InferenceService</a:t>
            </a:r>
          </a:p>
          <a:p>
            <a:r>
              <a:rPr sz="1300">
                <a:solidFill>
                  <a:srgbClr val="CCD6E0"/>
                </a:solidFill>
              </a:rPr>
              <a:t>    - model_loader  (ACTIVE_MODEL env selects bundle)</a:t>
            </a:r>
          </a:p>
          <a:p>
            <a:r>
              <a:rPr sz="1300">
                <a:solidFill>
                  <a:srgbClr val="CCD6E0"/>
                </a:solidFill>
              </a:rPr>
              <a:t>    - LegacyXGBBundle  —  single XGBRegressor + meta.json</a:t>
            </a:r>
          </a:p>
          <a:p>
            <a:r>
              <a:rPr sz="1300">
                <a:solidFill>
                  <a:srgbClr val="CCD6E0"/>
                </a:solidFill>
              </a:rPr>
              <a:t>    - NextDayPathBundle  —  26 horizon models (one per 15-min step)</a:t>
            </a:r>
          </a:p>
          <a:p>
            <a:r>
              <a:rPr sz="1500">
                <a:solidFill>
                  <a:srgbClr val="FFFFFF"/>
                </a:solidFill>
              </a:rPr>
              <a:t>• Simulation module  —  502 symbols, reads pre-computed CSVs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Design — Key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/api/v1/inference/predict/{symbol}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Next-day price prediction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/api/v1/simulation/session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Intraday session info (26 steps, 502 symbols)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/api/v1/simulation/base/{symbol}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Base prediction for a symbol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/api/v1/market/stocks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List all tracked tickers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/api/v1/market/ohlc/{symbol}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OHLCV time series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/api/v1/utils/health-check/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Liveness check  -&gt;  true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/docs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Swagger UI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04688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B4D8"/>
                </a:solidFill>
              </a:rPr>
              <a:t>Simulation module: 502 symbols x 26 intraday steps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Code — Backend Inference 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12880" cy="5166360"/>
          </a:xfrm>
          <a:prstGeom prst="rect">
            <a:avLst/>
          </a:prstGeom>
          <a:solidFill>
            <a:srgbClr val="102436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55680" cy="5001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A8D8EA"/>
                </a:solidFill>
                <a:latin typeface="Courier New"/>
              </a:rPr>
              <a:t># backend/app/modules/inference/api.py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# GET /api/v1/inference/predict/{symbol}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# ValueError -&gt; 404 (unknown symbol) or 400 (bad input)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# All other exceptions -&gt; 500</a:t>
            </a:r>
          </a:p>
          <a:p>
            <a:endParaRPr sz="1250">
              <a:solidFill>
                <a:srgbClr val="A8D8EA"/>
              </a:solidFill>
              <a:latin typeface="Courier New"/>
            </a:endParaRP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@router.get('/predict/{symbol}', response_model=NextDayPredictionResponse)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def predict_stock_price(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symbol: str, session: SessionDep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) -&gt; NextDayPredictionResponse: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try: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return InferenceService.predict_stock_price(session, symbol.upper())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except ValueError as e: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error_msg = str(e)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if 'not found' in error_msg.lower():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    raise HTTPException(status_code=404, detail=error_msg)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raise HTTPException(status_code=400, detail=error_msg)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except Exception as e: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raise HTTPException(status_code=500,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                    detail=f'Prediction error: {str(e)}')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B4D8"/>
                </a:solidFill>
              </a:rPr>
              <a:t>Code — CI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12880" cy="5166360"/>
          </a:xfrm>
          <a:prstGeom prst="rect">
            <a:avLst/>
          </a:prstGeom>
          <a:solidFill>
            <a:srgbClr val="102436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55680" cy="5001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A8D8EA"/>
                </a:solidFill>
                <a:latin typeface="Courier New"/>
              </a:rPr>
              <a:t># .github/workflows/backend-tests.yml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jobs: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test: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runs-on: ubuntu-latest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services: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postgres: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image: postgres:16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env: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  POSTGRES_USER: postgres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  POSTGRES_DB: app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options: &gt;-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  --health-cmd 'pg_isready -U postgres'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  --health-interval 5s  --health-retries 5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steps: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- uses: actions/checkout@v4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- uses: astral-sh/setup-uv@v5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- name: Install Dependencies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run: uv sync --frozen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working-directory: backend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- name: Run Database Migrations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run: uv run alembic upgrade head   # real migrations -- no mocks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working-directory: backend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- name: Run Pytest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run: uv run pytest tests/ -v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working-directory: backend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B4D8"/>
                </a:solidFill>
              </a:rPr>
              <a:t>Code — Test DB Fixture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12880" cy="5166360"/>
          </a:xfrm>
          <a:prstGeom prst="rect">
            <a:avLst/>
          </a:prstGeom>
          <a:solidFill>
            <a:srgbClr val="102436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55680" cy="5001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A8D8EA"/>
                </a:solidFill>
                <a:latin typeface="Courier New"/>
              </a:rPr>
              <a:t># backend/tests/modules/conftest.py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@pytest.fixture(scope='function')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def market_data(db: Session):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"""Seeds DB with known data before each test, cleans up after."""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# 1. Clean up any pre-existing data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db.execute(text(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"DELETE FROM market.daily_prices WHERE symbol IN ('AAPL','GOOGL','TSLA')"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))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db.commit()</a:t>
            </a:r>
          </a:p>
          <a:p>
            <a:endParaRPr sz="1250">
              <a:solidFill>
                <a:srgbClr val="A8D8EA"/>
              </a:solidFill>
              <a:latin typeface="Courier New"/>
            </a:endParaRP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# 2. Seed 5 days of AAPL price data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db.add_all([Stock(symbol='AAPL', name='Apple Inc.', is_active=True), ...])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db.add_all([DailyPrice(symbol='AAPL', date=today-timedelta(days=5),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                   open=150.0, high=155.0, low=149.0,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                       close=153.0, volume=1000), ...])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db.commit()</a:t>
            </a:r>
          </a:p>
          <a:p>
            <a:endParaRPr sz="1250">
              <a:solidFill>
                <a:srgbClr val="A8D8EA"/>
              </a:solidFill>
              <a:latin typeface="Courier New"/>
            </a:endParaRP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yield   # &lt;-- test runs here</a:t>
            </a:r>
          </a:p>
          <a:p>
            <a:endParaRPr sz="1250">
              <a:solidFill>
                <a:srgbClr val="A8D8EA"/>
              </a:solidFill>
              <a:latin typeface="Courier New"/>
            </a:endParaRP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# 3. Teardown -- guaranteed even if the test fails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db.execute(text("DELETE FROM market.daily_prices WHERE ..."))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db.commit()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B4D8"/>
                </a:solidFill>
              </a:rPr>
              <a:t>Code — Testing the Inference Endpoint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12880" cy="5166360"/>
          </a:xfrm>
          <a:prstGeom prst="rect">
            <a:avLst/>
          </a:prstGeom>
          <a:solidFill>
            <a:srgbClr val="102436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55680" cy="5001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A8D8EA"/>
                </a:solidFill>
                <a:latin typeface="Courier New"/>
              </a:rPr>
              <a:t># backend/tests/modules/test_inference.py</a:t>
            </a:r>
          </a:p>
          <a:p>
            <a:endParaRPr sz="1250" dirty="0">
              <a:solidFill>
                <a:srgbClr val="A8D8EA"/>
              </a:solidFill>
              <a:latin typeface="Courier New"/>
            </a:endParaRP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def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test_predict_stock_price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(client: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TestClient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) -&gt; None: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# An unknown symbol must return 404 with a useful error message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response =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client.get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('/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api</a:t>
            </a:r>
            <a:r>
              <a:rPr sz="1250">
                <a:solidFill>
                  <a:srgbClr val="A8D8EA"/>
                </a:solidFill>
                <a:latin typeface="Courier New"/>
              </a:rPr>
              <a:t>/v1/inference/predict/FAKE_SYMBOL')</a:t>
            </a:r>
          </a:p>
          <a:p>
            <a:endParaRPr sz="1250" dirty="0">
              <a:solidFill>
                <a:srgbClr val="A8D8EA"/>
              </a:solidFill>
              <a:latin typeface="Courier New"/>
            </a:endParaRP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assert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response.status_code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== 404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assert 'not found' in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response.json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()['detail'].lower()</a:t>
            </a:r>
          </a:p>
          <a:p>
            <a:endParaRPr sz="1250" dirty="0">
              <a:solidFill>
                <a:srgbClr val="A8D8EA"/>
              </a:solidFill>
              <a:latin typeface="Courier New"/>
            </a:endParaRPr>
          </a:p>
          <a:p>
            <a:endParaRPr sz="1250" dirty="0">
              <a:solidFill>
                <a:srgbClr val="A8D8EA"/>
              </a:solidFill>
              <a:latin typeface="Courier New"/>
            </a:endParaRP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# backend/tests/api/test_utils.py</a:t>
            </a:r>
          </a:p>
          <a:p>
            <a:endParaRPr sz="1250" dirty="0">
              <a:solidFill>
                <a:srgbClr val="A8D8EA"/>
              </a:solidFill>
              <a:latin typeface="Courier New"/>
            </a:endParaRP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def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test_health_check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(client: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TestClient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) -&gt; None: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response =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client.get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('/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api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/v1/utils/health-check/')</a:t>
            </a:r>
          </a:p>
          <a:p>
            <a:endParaRPr sz="1250" dirty="0">
              <a:solidFill>
                <a:srgbClr val="A8D8EA"/>
              </a:solidFill>
              <a:latin typeface="Courier New"/>
            </a:endParaRP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assert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response.status_code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== 200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    assert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response.json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() is True</a:t>
            </a:r>
          </a:p>
          <a:p>
            <a:endParaRPr sz="1250" dirty="0">
              <a:solidFill>
                <a:srgbClr val="A8D8EA"/>
              </a:solidFill>
              <a:latin typeface="Courier New"/>
            </a:endParaRPr>
          </a:p>
          <a:p>
            <a:endParaRPr sz="1250" dirty="0">
              <a:solidFill>
                <a:srgbClr val="A8D8EA"/>
              </a:solidFill>
              <a:latin typeface="Courier New"/>
            </a:endParaRP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# Known gap: </a:t>
            </a:r>
            <a:r>
              <a:rPr sz="1250" dirty="0" err="1">
                <a:solidFill>
                  <a:srgbClr val="A8D8EA"/>
                </a:solidFill>
                <a:latin typeface="Courier New"/>
              </a:rPr>
              <a:t>test_predict_stock_price_success_mock</a:t>
            </a:r>
            <a:r>
              <a:rPr sz="1250" dirty="0">
                <a:solidFill>
                  <a:srgbClr val="A8D8EA"/>
                </a:solidFill>
                <a:latin typeface="Courier New"/>
              </a:rPr>
              <a:t> is a placeholder `pass`</a:t>
            </a:r>
          </a:p>
          <a:p>
            <a:r>
              <a:rPr sz="1250" dirty="0">
                <a:solidFill>
                  <a:srgbClr val="A8D8EA"/>
                </a:solidFill>
                <a:latin typeface="Courier New"/>
              </a:rPr>
              <a:t># Success path requires seeded DB data -- documented as KB-4 in Testing Guide.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B4D8"/>
                </a:solidFill>
              </a:rPr>
              <a:t>Code — Market Service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12880" cy="5166360"/>
          </a:xfrm>
          <a:prstGeom prst="rect">
            <a:avLst/>
          </a:prstGeom>
          <a:solidFill>
            <a:srgbClr val="102436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55680" cy="5001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A8D8EA"/>
                </a:solidFill>
                <a:latin typeface="Courier New"/>
              </a:rPr>
              <a:t># backend/tests/modules/test_market_service.py</a:t>
            </a:r>
          </a:p>
          <a:p>
            <a:endParaRPr sz="1250">
              <a:solidFill>
                <a:srgbClr val="A8D8EA"/>
              </a:solidFill>
              <a:latin typeface="Courier New"/>
            </a:endParaRP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def test_list_stocks_returns_stock_read_objects(db: Session, market_data):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stocks = MarketService.list_stocks(db)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assert isinstance(stocks, list) and len(stocks) &gt; 0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assert isinstance(stocks[0], StockRead)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aapl = next(s for s in stocks if s.symbol == 'AAPL')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assert aapl.name == 'Apple Inc.'</a:t>
            </a:r>
          </a:p>
          <a:p>
            <a:endParaRPr sz="1250">
              <a:solidFill>
                <a:srgbClr val="A8D8EA"/>
              </a:solidFill>
              <a:latin typeface="Courier New"/>
            </a:endParaRPr>
          </a:p>
          <a:p>
            <a:endParaRPr sz="1250">
              <a:solidFill>
                <a:srgbClr val="A8D8EA"/>
              </a:solidFill>
              <a:latin typeface="Courier New"/>
            </a:endParaRP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def test_get_ohlc_converts_timestamps(db: Session, market_data):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# Service must return Unix timestamps (int), not Python date objects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ohlc_data = MarketService.get_ohlc(db, 'AAPL', days=10)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assert isinstance(ohlc_data[0].time, int)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assert ohlc_data[0].time &gt; 946684800   # sanity: &gt; year 2000</a:t>
            </a:r>
          </a:p>
          <a:p>
            <a:endParaRPr sz="1250">
              <a:solidFill>
                <a:srgbClr val="A8D8EA"/>
              </a:solidFill>
              <a:latin typeface="Courier New"/>
            </a:endParaRPr>
          </a:p>
          <a:p>
            <a:endParaRPr sz="1250">
              <a:solidFill>
                <a:srgbClr val="A8D8EA"/>
              </a:solidFill>
              <a:latin typeface="Courier New"/>
            </a:endParaRP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def test_get_ohlc_empty_range(db: Session, market_data):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# GOOGL exists but has no prices seeded -&gt; must return []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result = MarketService.get_ohlc(db, 'GOOGL', days=30)</a:t>
            </a:r>
          </a:p>
          <a:p>
            <a:r>
              <a:rPr sz="1250">
                <a:solidFill>
                  <a:srgbClr val="A8D8EA"/>
                </a:solidFill>
                <a:latin typeface="Courier New"/>
              </a:rPr>
              <a:t>    assert isinstance(result, list) and len(result) == 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Testing Results — Internal and UAT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Test Description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TC_API_01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 /utils/health-check/ -&gt; 200, true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Automated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TC_API_02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 /inference/predict/FAKE_SYMBOL -&gt; 404, 'not found'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Automated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TC_ML_01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list_stocks() returns list of StockRead objects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Automated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TC_ML_02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get_ohlc() timestamp field is int (Unix)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Automated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TC_ML_03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get_ohlc() returns [] for symbol with no prices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Automated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UAT_UI_01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Dashboard loads, charts render, no console errors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Manual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Accept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UAT_UI_02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Symbol switch updates chart correctly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Manual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Accept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UAT_UI_03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Browser resize -&gt; chart reflows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Manual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Accept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32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42 isolated test cases  |  &lt;4 seconds total  |  ~81% coverage  |  Real Postgres in CI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Refactoring and Change Requests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110703"/>
              </p:ext>
            </p:extLst>
          </p:nvPr>
        </p:nvGraphicFramePr>
        <p:xfrm>
          <a:off x="457200" y="1234440"/>
          <a:ext cx="1124712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CR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Filed By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1B2A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CR-001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Harsh Kumar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Sync -&gt; async SQLAlchemy (asyncpg)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Latency: 800 ms -&gt; &lt;100 ms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CR-002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KavalS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CRA/Webpack -&gt; Vite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Dev HMR: 15 s -&gt; &lt;1 s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CR-003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Dante</a:t>
                      </a:r>
                      <a:endParaRPr sz="12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Drop TimescaleDB for MVP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Removed complexity crashing on Windows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MISC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Parag</a:t>
                      </a:r>
                      <a:endParaRPr sz="12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CORS policy hardened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Was blocking all browser requests (HTTP 500)</a:t>
                      </a:r>
                    </a:p>
                  </a:txBody>
                  <a:tcPr>
                    <a:solidFill>
                      <a:srgbClr val="16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MISC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Team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DB column width for stock symbols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FFFFFF"/>
                          </a:solidFill>
                        </a:rPr>
                        <a:t>Was truncating tickers &gt; 6 characters</a:t>
                      </a:r>
                    </a:p>
                  </a:txBody>
                  <a:tcPr>
                    <a:solidFill>
                      <a:srgbClr val="1E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1324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All CRs reviewed and approved through GitHub Issues with change-request label.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Release v1.0.0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Release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Version: 1.0.0</a:t>
            </a:r>
          </a:p>
          <a:p>
            <a:r>
              <a:rPr sz="1500">
                <a:solidFill>
                  <a:srgbClr val="FFFFFF"/>
                </a:solidFill>
              </a:rPr>
              <a:t>• Date: 2026-03-24</a:t>
            </a:r>
          </a:p>
          <a:p>
            <a:r>
              <a:rPr sz="1500">
                <a:solidFill>
                  <a:srgbClr val="FFFFFF"/>
                </a:solidFill>
              </a:rPr>
              <a:t>• Tag: v1.0.0 on main — all CI gates green</a:t>
            </a:r>
          </a:p>
          <a:p>
            <a:r>
              <a:rPr sz="1500">
                <a:solidFill>
                  <a:srgbClr val="FFFFFF"/>
                </a:solidFill>
              </a:rPr>
              <a:t>• Package: the-project-maverick_Delivery_V1.0.0.zip</a:t>
            </a:r>
          </a:p>
          <a:p>
            <a:r>
              <a:rPr sz="1300">
                <a:solidFill>
                  <a:srgbClr val="CCD6E0"/>
                </a:solidFill>
              </a:rPr>
              <a:t>    - backend/  frontend/  Documentation/</a:t>
            </a:r>
          </a:p>
          <a:p>
            <a:r>
              <a:rPr sz="1300">
                <a:solidFill>
                  <a:srgbClr val="CCD6E0"/>
                </a:solidFill>
              </a:rPr>
              <a:t>    - docker-compose.yml  README.md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8" y="1234440"/>
            <a:ext cx="22860" cy="5212080"/>
          </a:xfrm>
          <a:prstGeom prst="rect">
            <a:avLst/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What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486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FFFFFF"/>
                </a:solidFill>
              </a:rPr>
              <a:t>• React dashboard MVP — chart, symbol selector, prediction overlay</a:t>
            </a:r>
          </a:p>
          <a:p>
            <a:r>
              <a:rPr sz="1500" dirty="0">
                <a:solidFill>
                  <a:srgbClr val="FFFFFF"/>
                </a:solidFill>
              </a:rPr>
              <a:t>• Async </a:t>
            </a:r>
            <a:r>
              <a:rPr sz="1500" dirty="0" err="1">
                <a:solidFill>
                  <a:srgbClr val="FFFFFF"/>
                </a:solidFill>
              </a:rPr>
              <a:t>FastAPI</a:t>
            </a:r>
            <a:r>
              <a:rPr sz="1500" dirty="0">
                <a:solidFill>
                  <a:srgbClr val="FFFFFF"/>
                </a:solidFill>
              </a:rPr>
              <a:t> backend with 6 modular router groups</a:t>
            </a:r>
          </a:p>
          <a:p>
            <a:r>
              <a:rPr sz="1500" dirty="0">
                <a:solidFill>
                  <a:srgbClr val="FFFFFF"/>
                </a:solidFill>
              </a:rPr>
              <a:t>• </a:t>
            </a:r>
            <a:r>
              <a:rPr sz="1500" dirty="0" err="1">
                <a:solidFill>
                  <a:srgbClr val="FFFFFF"/>
                </a:solidFill>
              </a:rPr>
              <a:t>XGBoost</a:t>
            </a:r>
            <a:r>
              <a:rPr sz="1500" dirty="0">
                <a:solidFill>
                  <a:srgbClr val="FFFFFF"/>
                </a:solidFill>
              </a:rPr>
              <a:t> bundle system (</a:t>
            </a:r>
            <a:r>
              <a:rPr sz="1500" dirty="0" err="1">
                <a:solidFill>
                  <a:srgbClr val="FFFFFF"/>
                </a:solidFill>
              </a:rPr>
              <a:t>LegacyXGB</a:t>
            </a:r>
            <a:r>
              <a:rPr sz="1500" dirty="0">
                <a:solidFill>
                  <a:srgbClr val="FFFFFF"/>
                </a:solidFill>
              </a:rPr>
              <a:t> + </a:t>
            </a:r>
            <a:r>
              <a:rPr sz="1500" dirty="0" err="1">
                <a:solidFill>
                  <a:srgbClr val="FFFFFF"/>
                </a:solidFill>
              </a:rPr>
              <a:t>NextDayPath</a:t>
            </a:r>
            <a:r>
              <a:rPr sz="1500" dirty="0">
                <a:solidFill>
                  <a:srgbClr val="FFFFFF"/>
                </a:solidFill>
              </a:rPr>
              <a:t>)</a:t>
            </a:r>
          </a:p>
          <a:p>
            <a:r>
              <a:rPr sz="1500" dirty="0">
                <a:solidFill>
                  <a:srgbClr val="FFFFFF"/>
                </a:solidFill>
              </a:rPr>
              <a:t>• PostgreSQL schema via Alembic migrations</a:t>
            </a:r>
          </a:p>
          <a:p>
            <a:r>
              <a:rPr sz="1500" dirty="0">
                <a:solidFill>
                  <a:srgbClr val="FFFFFF"/>
                </a:solidFill>
              </a:rPr>
              <a:t>• Simulation module — 502 symbols x 26 intraday steps</a:t>
            </a:r>
          </a:p>
          <a:p>
            <a:r>
              <a:rPr sz="1500" dirty="0">
                <a:solidFill>
                  <a:srgbClr val="FFFFFF"/>
                </a:solidFill>
              </a:rPr>
              <a:t>• Full documentation suite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Reference from Customer / Instructor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FFFFFF"/>
                </a:solidFill>
              </a:rPr>
              <a:t>• UAT conducted with course instructor after final demo session</a:t>
            </a:r>
          </a:p>
          <a:p>
            <a:r>
              <a:rPr sz="1600" dirty="0">
                <a:solidFill>
                  <a:srgbClr val="FFFFFF"/>
                </a:solidFill>
              </a:rPr>
              <a:t>• Feedback summary:</a:t>
            </a:r>
          </a:p>
          <a:p>
            <a:r>
              <a:rPr sz="1400" dirty="0">
                <a:solidFill>
                  <a:srgbClr val="CCD6E0"/>
                </a:solidFill>
              </a:rPr>
              <a:t>    - Dashboard and API acceptable for course demonstration</a:t>
            </a:r>
          </a:p>
          <a:p>
            <a:r>
              <a:rPr sz="1400" dirty="0">
                <a:solidFill>
                  <a:srgbClr val="CCD6E0"/>
                </a:solidFill>
              </a:rPr>
              <a:t>    - Documentation completeness confirmed — all required documents present</a:t>
            </a:r>
          </a:p>
          <a:p>
            <a:r>
              <a:rPr sz="1600" dirty="0">
                <a:solidFill>
                  <a:srgbClr val="FFFFFF"/>
                </a:solidFill>
              </a:rPr>
              <a:t>• Peer testing session:</a:t>
            </a:r>
          </a:p>
          <a:p>
            <a:r>
              <a:rPr sz="1400" dirty="0">
                <a:solidFill>
                  <a:srgbClr val="CCD6E0"/>
                </a:solidFill>
              </a:rPr>
              <a:t>    - Handout: Documentation/COSC471_Testing_Guide_Internal.md</a:t>
            </a:r>
          </a:p>
          <a:p>
            <a:r>
              <a:rPr sz="1400" dirty="0">
                <a:solidFill>
                  <a:srgbClr val="CCD6E0"/>
                </a:solidFill>
              </a:rPr>
              <a:t>    - Students test using the matrix in Section 3 of the guide</a:t>
            </a:r>
          </a:p>
          <a:p>
            <a:r>
              <a:rPr sz="1400" dirty="0">
                <a:solidFill>
                  <a:srgbClr val="CCD6E0"/>
                </a:solidFill>
              </a:rPr>
              <a:t>    - Known bugs pre-disclosed in Section 5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Summary and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What We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Full-stack stock prediction platform aligned to Vision and Business Case</a:t>
            </a:r>
          </a:p>
          <a:p>
            <a:r>
              <a:rPr sz="1500">
                <a:solidFill>
                  <a:srgbClr val="FFFFFF"/>
                </a:solidFill>
              </a:rPr>
              <a:t>• Modular FastAPI + versioned XGBoost bundles + containerised Postgres</a:t>
            </a:r>
          </a:p>
          <a:p>
            <a:r>
              <a:rPr sz="1500">
                <a:solidFill>
                  <a:srgbClr val="FFFFFF"/>
                </a:solidFill>
              </a:rPr>
              <a:t>• Simulation module: 502 symbols, 26 intraday steps, zero DB I/O</a:t>
            </a:r>
          </a:p>
          <a:p>
            <a:r>
              <a:rPr sz="1500">
                <a:solidFill>
                  <a:srgbClr val="FFFFFF"/>
                </a:solidFill>
              </a:rPr>
              <a:t>• Engineering process: Git Flow, Conventional Commits, CI/CD, ~81%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8" y="1234440"/>
            <a:ext cx="22860" cy="5212080"/>
          </a:xfrm>
          <a:prstGeom prst="rect">
            <a:avLst/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What We're Proud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486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FFFFFF"/>
                </a:solidFill>
              </a:rPr>
              <a:t>• Real integration tests against a real DB </a:t>
            </a:r>
          </a:p>
          <a:p>
            <a:r>
              <a:rPr sz="1500" dirty="0">
                <a:solidFill>
                  <a:srgbClr val="FFFFFF"/>
                </a:solidFill>
              </a:rPr>
              <a:t>• Async refactor cut latency by 8x (800 </a:t>
            </a:r>
            <a:r>
              <a:rPr sz="1500" dirty="0" err="1">
                <a:solidFill>
                  <a:srgbClr val="FFFFFF"/>
                </a:solidFill>
              </a:rPr>
              <a:t>ms</a:t>
            </a:r>
            <a:r>
              <a:rPr sz="1500" dirty="0">
                <a:solidFill>
                  <a:srgbClr val="FFFFFF"/>
                </a:solidFill>
              </a:rPr>
              <a:t> -&gt; &lt;100 </a:t>
            </a:r>
            <a:r>
              <a:rPr sz="1500" dirty="0" err="1">
                <a:solidFill>
                  <a:srgbClr val="FFFFFF"/>
                </a:solidFill>
              </a:rPr>
              <a:t>ms</a:t>
            </a:r>
            <a:r>
              <a:rPr sz="1500" dirty="0">
                <a:solidFill>
                  <a:srgbClr val="FFFFFF"/>
                </a:solidFill>
              </a:rPr>
              <a:t>)</a:t>
            </a:r>
          </a:p>
          <a:p>
            <a:r>
              <a:rPr sz="1500" dirty="0">
                <a:solidFill>
                  <a:srgbClr val="FFFFFF"/>
                </a:solidFill>
              </a:rPr>
              <a:t>• Known gaps honestly documented:</a:t>
            </a:r>
          </a:p>
          <a:p>
            <a:r>
              <a:rPr sz="1300" dirty="0">
                <a:solidFill>
                  <a:srgbClr val="CCD6E0"/>
                </a:solidFill>
              </a:rPr>
              <a:t>    - WebSocket streaming (ISSUE-22) -&gt; v1.1</a:t>
            </a:r>
          </a:p>
          <a:p>
            <a:r>
              <a:rPr sz="1300" dirty="0">
                <a:solidFill>
                  <a:srgbClr val="CCD6E0"/>
                </a:solidFill>
              </a:rPr>
              <a:t>    - Docker image size (ISSUE-25) -&gt; multi-stage build</a:t>
            </a:r>
          </a:p>
          <a:p>
            <a:r>
              <a:rPr sz="1300" dirty="0">
                <a:solidFill>
                  <a:srgbClr val="CCD6E0"/>
                </a:solidFill>
              </a:rPr>
              <a:t>    - Inference success-path test (KB-4) -&gt; needs DB seed in CI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Live Demonstration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FFFFFF"/>
                </a:solidFill>
              </a:rPr>
              <a:t>• 1.  http://localhost:8000/docs  -&gt;  Swagger UI loads, all routers listed</a:t>
            </a:r>
          </a:p>
          <a:p>
            <a:r>
              <a:rPr sz="2000" dirty="0">
                <a:solidFill>
                  <a:srgbClr val="FFFFFF"/>
                </a:solidFill>
              </a:rPr>
              <a:t>• 2.  GET /</a:t>
            </a:r>
            <a:r>
              <a:rPr sz="2000" dirty="0" err="1">
                <a:solidFill>
                  <a:srgbClr val="FFFFFF"/>
                </a:solidFill>
              </a:rPr>
              <a:t>api</a:t>
            </a:r>
            <a:r>
              <a:rPr sz="2000" dirty="0">
                <a:solidFill>
                  <a:srgbClr val="FFFFFF"/>
                </a:solidFill>
              </a:rPr>
              <a:t>/v1/utils/health-check/  -&gt;  true</a:t>
            </a:r>
          </a:p>
          <a:p>
            <a:r>
              <a:rPr sz="2000" dirty="0">
                <a:solidFill>
                  <a:srgbClr val="FFFFFF"/>
                </a:solidFill>
              </a:rPr>
              <a:t>• 3.  GET /</a:t>
            </a:r>
            <a:r>
              <a:rPr sz="2000" dirty="0" err="1">
                <a:solidFill>
                  <a:srgbClr val="FFFFFF"/>
                </a:solidFill>
              </a:rPr>
              <a:t>api</a:t>
            </a:r>
            <a:r>
              <a:rPr sz="2000" dirty="0">
                <a:solidFill>
                  <a:srgbClr val="FFFFFF"/>
                </a:solidFill>
              </a:rPr>
              <a:t>/v1/inference/predict/AAPL  -&gt;  show prediction payload</a:t>
            </a:r>
          </a:p>
          <a:p>
            <a:r>
              <a:rPr sz="2000" dirty="0">
                <a:solidFill>
                  <a:srgbClr val="FFFFFF"/>
                </a:solidFill>
              </a:rPr>
              <a:t>• 5.  GET /</a:t>
            </a:r>
            <a:r>
              <a:rPr sz="2000" dirty="0" err="1">
                <a:solidFill>
                  <a:srgbClr val="FFFFFF"/>
                </a:solidFill>
              </a:rPr>
              <a:t>api</a:t>
            </a:r>
            <a:r>
              <a:rPr sz="2000" dirty="0">
                <a:solidFill>
                  <a:srgbClr val="FFFFFF"/>
                </a:solidFill>
              </a:rPr>
              <a:t>/v1/simulation/session  -&gt;  26 steps, 502 symbols, </a:t>
            </a:r>
            <a:r>
              <a:rPr sz="2000" dirty="0" err="1">
                <a:solidFill>
                  <a:srgbClr val="FFFFFF"/>
                </a:solidFill>
              </a:rPr>
              <a:t>replay_date</a:t>
            </a:r>
            <a:endParaRPr sz="2000" dirty="0">
              <a:solidFill>
                <a:srgbClr val="FFFFFF"/>
              </a:solidFill>
            </a:endParaRPr>
          </a:p>
          <a:p>
            <a:r>
              <a:rPr sz="2000" dirty="0">
                <a:solidFill>
                  <a:srgbClr val="FFFFFF"/>
                </a:solidFill>
              </a:rPr>
              <a:t>• 6.  http://localhost:5173  -&gt;  dashboard loads, no console errors</a:t>
            </a:r>
          </a:p>
          <a:p>
            <a:r>
              <a:rPr sz="2000" dirty="0">
                <a:solidFill>
                  <a:srgbClr val="FFFFFF"/>
                </a:solidFill>
              </a:rPr>
              <a:t>• 7.  Select a symbol  -&gt;  chart updates with prediction overlay</a:t>
            </a:r>
          </a:p>
          <a:p>
            <a:r>
              <a:rPr sz="2000" dirty="0">
                <a:solidFill>
                  <a:srgbClr val="FFFFFF"/>
                </a:solidFill>
              </a:rPr>
              <a:t>• 8.  Resize browser  -&gt;  chart reflows correctly</a:t>
            </a:r>
          </a:p>
          <a:p>
            <a:r>
              <a:rPr sz="2000" dirty="0">
                <a:solidFill>
                  <a:srgbClr val="FFFFFF"/>
                </a:solidFill>
              </a:rPr>
              <a:t>• 9.  http://localhost:8082  -&gt;  </a:t>
            </a:r>
            <a:r>
              <a:rPr sz="2000" dirty="0" err="1">
                <a:solidFill>
                  <a:srgbClr val="FFFFFF"/>
                </a:solidFill>
              </a:rPr>
              <a:t>Adminer</a:t>
            </a:r>
            <a:r>
              <a:rPr sz="2000" dirty="0">
                <a:solidFill>
                  <a:srgbClr val="FFFFFF"/>
                </a:solidFill>
              </a:rPr>
              <a:t>, show </a:t>
            </a:r>
            <a:r>
              <a:rPr sz="2000" dirty="0" err="1">
                <a:solidFill>
                  <a:srgbClr val="FFFFFF"/>
                </a:solidFill>
              </a:rPr>
              <a:t>market.stocks</a:t>
            </a:r>
            <a:r>
              <a:rPr sz="2000" dirty="0">
                <a:solidFill>
                  <a:srgbClr val="FFFFFF"/>
                </a:solidFill>
              </a:rPr>
              <a:t> + </a:t>
            </a:r>
            <a:r>
              <a:rPr sz="2000" dirty="0" err="1">
                <a:solidFill>
                  <a:srgbClr val="FFFFFF"/>
                </a:solidFill>
              </a:rPr>
              <a:t>market.daily_prices</a:t>
            </a:r>
            <a:endParaRPr sz="2000" dirty="0">
              <a:solidFill>
                <a:srgbClr val="FFFFFF"/>
              </a:solidFill>
            </a:endParaRPr>
          </a:p>
          <a:p>
            <a:endParaRPr sz="2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88952" cy="1828800"/>
          </a:xfrm>
          <a:prstGeom prst="rect">
            <a:avLst/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31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33087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40864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B4D8"/>
                </a:solidFill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10-15 minutes  |  Students and professors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Model assumptions  *  Not financial advice  *  Why XGBoost  *  Async trade-offs  *  Roadmap  *  Test gaps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0545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3159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624328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B4D8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01568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the-project-maverick  |  COSC 471  |  Computer Science  |  Okanagan College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634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Testing Guide handout: Documentation/COSC471_Testing_Guide_Internal.md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3424</Words>
  <Application>Microsoft Office PowerPoint</Application>
  <PresentationFormat>Custom</PresentationFormat>
  <Paragraphs>510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zane tessmer</cp:lastModifiedBy>
  <cp:revision>5</cp:revision>
  <dcterms:created xsi:type="dcterms:W3CDTF">2013-01-27T09:14:16Z</dcterms:created>
  <dcterms:modified xsi:type="dcterms:W3CDTF">2026-04-08T18:51:07Z</dcterms:modified>
  <cp:category/>
</cp:coreProperties>
</file>