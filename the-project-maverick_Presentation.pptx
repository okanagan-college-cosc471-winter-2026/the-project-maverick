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  <p:sldId id="283" r:id="rId34"/>
    <p:sldId id="284" r:id="rId35"/>
    <p:sldId id="285" r:id="rId36"/>
  </p:sldIdLst>
  <p:sldSz cx="12188952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Relationship Id="rId34" Type="http://schemas.openxmlformats.org/officeDocument/2006/relationships/slide" Target="slides/slide28.xml"/><Relationship Id="rId35" Type="http://schemas.openxmlformats.org/officeDocument/2006/relationships/slide" Target="slides/slide29.xml"/><Relationship Id="rId36" Type="http://schemas.openxmlformats.org/officeDocument/2006/relationships/slide" Target="slides/slide30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D1B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2286000"/>
            <a:ext cx="12188952" cy="2194560"/>
          </a:xfrm>
          <a:prstGeom prst="rect">
            <a:avLst/>
          </a:prstGeom>
          <a:solidFill>
            <a:srgbClr val="1E2F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2231136"/>
            <a:ext cx="12188952" cy="54864"/>
          </a:xfrm>
          <a:prstGeom prst="rect">
            <a:avLst/>
          </a:prstGeom>
          <a:solidFill>
            <a:srgbClr val="00B4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4526280"/>
            <a:ext cx="12188952" cy="54864"/>
          </a:xfrm>
          <a:prstGeom prst="rect">
            <a:avLst/>
          </a:prstGeom>
          <a:solidFill>
            <a:srgbClr val="00B4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2340864"/>
            <a:ext cx="1124712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200" b="1" i="0">
                <a:solidFill>
                  <a:srgbClr val="00B4D8"/>
                </a:solidFill>
              </a:rPr>
              <a:t>the-project-maverick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3090672"/>
            <a:ext cx="11247120" cy="5303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0" i="0">
                <a:solidFill>
                  <a:srgbClr val="FFFFFF"/>
                </a:solidFill>
              </a:rPr>
              <a:t>Real-Time ML-Powered Stock Price Prediction Platform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286000" y="4736592"/>
            <a:ext cx="201168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400" b="1" i="0">
                <a:solidFill>
                  <a:srgbClr val="00B4D8"/>
                </a:solidFill>
              </a:rPr>
              <a:t>Presenting: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434840" y="4736592"/>
            <a:ext cx="50292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FFFFFF"/>
                </a:solidFill>
              </a:rPr>
              <a:t>Zane (Foochini)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286000" y="5084064"/>
            <a:ext cx="201168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400" b="1" i="0">
                <a:solidFill>
                  <a:srgbClr val="00B4D8"/>
                </a:solidFill>
              </a:rPr>
              <a:t>Course: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434840" y="5084064"/>
            <a:ext cx="50292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FFFFFF"/>
                </a:solidFill>
              </a:rPr>
              <a:t>COSC 471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286000" y="5431536"/>
            <a:ext cx="201168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400" b="1" i="0">
                <a:solidFill>
                  <a:srgbClr val="00B4D8"/>
                </a:solidFill>
              </a:rPr>
              <a:t>Department: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434840" y="5431536"/>
            <a:ext cx="50292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FFFFFF"/>
                </a:solidFill>
              </a:rPr>
              <a:t>Computer Science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286000" y="5779008"/>
            <a:ext cx="201168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400" b="1" i="0">
                <a:solidFill>
                  <a:srgbClr val="00B4D8"/>
                </a:solidFill>
              </a:rPr>
              <a:t>Institution: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434840" y="5779008"/>
            <a:ext cx="50292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FFFFFF"/>
                </a:solidFill>
              </a:rPr>
              <a:t>Okanagan College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286000" y="6126480"/>
            <a:ext cx="201168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400" b="1" i="0">
                <a:solidFill>
                  <a:srgbClr val="00B4D8"/>
                </a:solidFill>
              </a:rPr>
              <a:t>Year of Study: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434840" y="6126480"/>
            <a:ext cx="50292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FFFFFF"/>
                </a:solidFill>
              </a:rPr>
              <a:t>4th Year, 2026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D1B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164592"/>
            <a:ext cx="114300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 i="0">
                <a:solidFill>
                  <a:srgbClr val="00B4D8"/>
                </a:solidFill>
              </a:rPr>
              <a:t>Agenda</a:t>
            </a:r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88952" cy="45720"/>
          </a:xfrm>
          <a:prstGeom prst="rect">
            <a:avLst/>
          </a:prstGeom>
          <a:solidFill>
            <a:srgbClr val="00B4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234440"/>
            <a:ext cx="11247120" cy="5212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700">
                <a:solidFill>
                  <a:srgbClr val="FFFFFF"/>
                </a:solidFill>
              </a:rPr>
              <a:t>• Customer and stakeholders</a:t>
            </a:r>
          </a:p>
          <a:p>
            <a:r>
              <a:rPr sz="1700">
                <a:solidFill>
                  <a:srgbClr val="FFFFFF"/>
                </a:solidFill>
              </a:rPr>
              <a:t>• Business requirements and Vision highlights</a:t>
            </a:r>
          </a:p>
          <a:p>
            <a:r>
              <a:rPr sz="1700">
                <a:solidFill>
                  <a:srgbClr val="FFFFFF"/>
                </a:solidFill>
              </a:rPr>
              <a:t>• Architecture</a:t>
            </a:r>
          </a:p>
          <a:p>
            <a:r>
              <a:rPr sz="1700">
                <a:solidFill>
                  <a:srgbClr val="FFFFFF"/>
                </a:solidFill>
              </a:rPr>
              <a:t>• Configuration management and internal standards</a:t>
            </a:r>
          </a:p>
          <a:p>
            <a:r>
              <a:rPr sz="1700">
                <a:solidFill>
                  <a:srgbClr val="FFFFFF"/>
                </a:solidFill>
              </a:rPr>
              <a:t>• Planning overview, workload, and lessons learned</a:t>
            </a:r>
          </a:p>
          <a:p>
            <a:r>
              <a:rPr sz="1700">
                <a:solidFill>
                  <a:srgbClr val="FFFFFF"/>
                </a:solidFill>
              </a:rPr>
              <a:t>• Risk management</a:t>
            </a:r>
          </a:p>
          <a:p>
            <a:r>
              <a:rPr sz="1700">
                <a:solidFill>
                  <a:srgbClr val="FFFFFF"/>
                </a:solidFill>
              </a:rPr>
              <a:t>• Design</a:t>
            </a:r>
          </a:p>
          <a:p>
            <a:r>
              <a:rPr sz="1700">
                <a:solidFill>
                  <a:srgbClr val="FFFFFF"/>
                </a:solidFill>
              </a:rPr>
              <a:t>• Code — backend, infrastructure, and testing</a:t>
            </a:r>
          </a:p>
          <a:p>
            <a:r>
              <a:rPr sz="1700">
                <a:solidFill>
                  <a:srgbClr val="FFFFFF"/>
                </a:solidFill>
              </a:rPr>
              <a:t>• Testing results — internal and UAT</a:t>
            </a:r>
          </a:p>
          <a:p>
            <a:r>
              <a:rPr sz="1700">
                <a:solidFill>
                  <a:srgbClr val="FFFFFF"/>
                </a:solidFill>
              </a:rPr>
              <a:t>• Refactoring and change control</a:t>
            </a:r>
          </a:p>
          <a:p>
            <a:r>
              <a:rPr sz="1700">
                <a:solidFill>
                  <a:srgbClr val="FFFFFF"/>
                </a:solidFill>
              </a:rPr>
              <a:t>• Release v1.0.0 · Reference · Summary</a:t>
            </a:r>
          </a:p>
          <a:p>
            <a:r>
              <a:rPr sz="1700">
                <a:solidFill>
                  <a:srgbClr val="FFFFFF"/>
                </a:solidFill>
              </a:rPr>
              <a:t>• Live demonstration</a:t>
            </a:r>
          </a:p>
          <a:p>
            <a:r>
              <a:rPr sz="1700">
                <a:solidFill>
                  <a:srgbClr val="FFFFFF"/>
                </a:solidFill>
              </a:rPr>
              <a:t>• Q&amp;A  (10–15 minutes)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D1B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164592"/>
            <a:ext cx="114300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 i="0">
                <a:solidFill>
                  <a:srgbClr val="00B4D8"/>
                </a:solidFill>
              </a:rPr>
              <a:t>Team and Individual Responsibilities</a:t>
            </a:r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88952" cy="45720"/>
          </a:xfrm>
          <a:prstGeom prst="rect">
            <a:avLst/>
          </a:prstGeom>
          <a:solidFill>
            <a:srgbClr val="00B4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457200" y="1280160"/>
          <a:ext cx="11247120" cy="230428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749040"/>
                <a:gridCol w="3749040"/>
                <a:gridCol w="3749040"/>
              </a:tblGrid>
              <a:tr h="384048">
                <a:tc>
                  <a:txBody>
                    <a:bodyPr/>
                    <a:lstStyle/>
                    <a:p>
                      <a:r>
                        <a:rPr sz="1400" b="1">
                          <a:solidFill>
                            <a:srgbClr val="0D1B2A"/>
                          </a:solidFill>
                        </a:rPr>
                        <a:t>Team Member</a:t>
                      </a:r>
                    </a:p>
                  </a:txBody>
                  <a:tcPr>
                    <a:solidFill>
                      <a:srgbClr val="00B4D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1">
                          <a:solidFill>
                            <a:srgbClr val="0D1B2A"/>
                          </a:solidFill>
                        </a:rPr>
                        <a:t>Role</a:t>
                      </a:r>
                    </a:p>
                  </a:txBody>
                  <a:tcPr>
                    <a:solidFill>
                      <a:srgbClr val="00B4D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1">
                          <a:solidFill>
                            <a:srgbClr val="0D1B2A"/>
                          </a:solidFill>
                        </a:rPr>
                        <a:t>Key Deliverables</a:t>
                      </a:r>
                    </a:p>
                  </a:txBody>
                  <a:tcPr>
                    <a:solidFill>
                      <a:srgbClr val="00B4D8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r>
                        <a:rPr sz="1300">
                          <a:solidFill>
                            <a:srgbClr val="FFFFFF"/>
                          </a:solidFill>
                        </a:rPr>
                        <a:t>Harsh Kumar</a:t>
                      </a:r>
                    </a:p>
                  </a:txBody>
                  <a:tcPr>
                    <a:solidFill>
                      <a:srgbClr val="1E2F4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>
                          <a:solidFill>
                            <a:srgbClr val="FFFFFF"/>
                          </a:solidFill>
                        </a:rPr>
                        <a:t>Lead Backend / ML</a:t>
                      </a:r>
                    </a:p>
                  </a:txBody>
                  <a:tcPr>
                    <a:solidFill>
                      <a:srgbClr val="1E2F4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>
                          <a:solidFill>
                            <a:srgbClr val="FFFFFF"/>
                          </a:solidFill>
                        </a:rPr>
                        <a:t>XGBoost ModelManager, pandas feature pipeline, API core</a:t>
                      </a:r>
                    </a:p>
                  </a:txBody>
                  <a:tcPr>
                    <a:solidFill>
                      <a:srgbClr val="1E2F40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r>
                        <a:rPr sz="1300">
                          <a:solidFill>
                            <a:srgbClr val="FFFFFF"/>
                          </a:solidFill>
                        </a:rPr>
                        <a:t>Parag Jindal</a:t>
                      </a:r>
                    </a:p>
                  </a:txBody>
                  <a:tcPr>
                    <a:solidFill>
                      <a:srgbClr val="16283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>
                          <a:solidFill>
                            <a:srgbClr val="FFFFFF"/>
                          </a:solidFill>
                        </a:rPr>
                        <a:t>Backend / Schemas</a:t>
                      </a:r>
                    </a:p>
                  </a:txBody>
                  <a:tcPr>
                    <a:solidFill>
                      <a:srgbClr val="16283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>
                          <a:solidFill>
                            <a:srgbClr val="FFFFFF"/>
                          </a:solidFill>
                        </a:rPr>
                        <a:t>Prediction API routes, Pydantic v2 schemas, WebSocket research</a:t>
                      </a:r>
                    </a:p>
                  </a:txBody>
                  <a:tcPr>
                    <a:solidFill>
                      <a:srgbClr val="16283A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r>
                        <a:rPr sz="1300">
                          <a:solidFill>
                            <a:srgbClr val="FFFFFF"/>
                          </a:solidFill>
                        </a:rPr>
                        <a:t>KavalS</a:t>
                      </a:r>
                    </a:p>
                  </a:txBody>
                  <a:tcPr>
                    <a:solidFill>
                      <a:srgbClr val="1E2F4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>
                          <a:solidFill>
                            <a:srgbClr val="FFFFFF"/>
                          </a:solidFill>
                        </a:rPr>
                        <a:t>Frontend Lead</a:t>
                      </a:r>
                    </a:p>
                  </a:txBody>
                  <a:tcPr>
                    <a:solidFill>
                      <a:srgbClr val="1E2F4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>
                          <a:solidFill>
                            <a:srgbClr val="FFFFFF"/>
                          </a:solidFill>
                        </a:rPr>
                        <a:t>React 19 architecture, TanStack Router/Query, chart stability</a:t>
                      </a:r>
                    </a:p>
                  </a:txBody>
                  <a:tcPr>
                    <a:solidFill>
                      <a:srgbClr val="1E2F40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r>
                        <a:rPr sz="1300">
                          <a:solidFill>
                            <a:srgbClr val="FFFFFF"/>
                          </a:solidFill>
                        </a:rPr>
                        <a:t>Guntash</a:t>
                      </a:r>
                    </a:p>
                  </a:txBody>
                  <a:tcPr>
                    <a:solidFill>
                      <a:srgbClr val="16283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>
                          <a:solidFill>
                            <a:srgbClr val="FFFFFF"/>
                          </a:solidFill>
                        </a:rPr>
                        <a:t>Frontend UI</a:t>
                      </a:r>
                    </a:p>
                  </a:txBody>
                  <a:tcPr>
                    <a:solidFill>
                      <a:srgbClr val="16283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>
                          <a:solidFill>
                            <a:srgbClr val="FFFFFF"/>
                          </a:solidFill>
                        </a:rPr>
                        <a:t>Recharts/Lightweight Charts, dashboard components, tooltips</a:t>
                      </a:r>
                    </a:p>
                  </a:txBody>
                  <a:tcPr>
                    <a:solidFill>
                      <a:srgbClr val="16283A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r>
                        <a:rPr sz="1300">
                          <a:solidFill>
                            <a:srgbClr val="FFFFFF"/>
                          </a:solidFill>
                        </a:rPr>
                        <a:t>Zane (Foochini)</a:t>
                      </a:r>
                    </a:p>
                  </a:txBody>
                  <a:tcPr>
                    <a:solidFill>
                      <a:srgbClr val="1E2F4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>
                          <a:solidFill>
                            <a:srgbClr val="FFFFFF"/>
                          </a:solidFill>
                        </a:rPr>
                        <a:t>DevOps / QA</a:t>
                      </a:r>
                    </a:p>
                  </a:txBody>
                  <a:tcPr>
                    <a:solidFill>
                      <a:srgbClr val="1E2F4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>
                          <a:solidFill>
                            <a:srgbClr val="FFFFFF"/>
                          </a:solidFill>
                        </a:rPr>
                        <a:t>Docker Compose, GitHub Actions CI, Alembic, pytest suite, all documentation</a:t>
                      </a:r>
                    </a:p>
                  </a:txBody>
                  <a:tcPr>
                    <a:solidFill>
                      <a:srgbClr val="1E2F40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D1B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164592"/>
            <a:ext cx="114300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 i="0">
                <a:solidFill>
                  <a:srgbClr val="00B4D8"/>
                </a:solidFill>
              </a:rPr>
              <a:t>Who Is the Customer?</a:t>
            </a:r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88952" cy="45720"/>
          </a:xfrm>
          <a:prstGeom prst="rect">
            <a:avLst/>
          </a:prstGeom>
          <a:solidFill>
            <a:srgbClr val="00B4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65760" y="1234440"/>
            <a:ext cx="54864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1" i="0">
                <a:solidFill>
                  <a:srgbClr val="00B4D8"/>
                </a:solidFill>
              </a:rPr>
              <a:t>Primary Stakeholders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1691640"/>
            <a:ext cx="5486400" cy="4663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500">
                <a:solidFill>
                  <a:srgbClr val="FFFFFF"/>
                </a:solidFill>
              </a:rPr>
              <a:t>• Course instructors / evaluators</a:t>
            </a:r>
          </a:p>
          <a:p>
            <a:r>
              <a:rPr sz="1300">
                <a:solidFill>
                  <a:srgbClr val="CCD6E0"/>
                </a:solidFill>
              </a:rPr>
              <a:t>    - Assess engineering process, docs, and quality</a:t>
            </a:r>
          </a:p>
          <a:p>
            <a:r>
              <a:rPr sz="1500">
                <a:solidFill>
                  <a:srgbClr val="FFFFFF"/>
                </a:solidFill>
              </a:rPr>
              <a:t>• Development team</a:t>
            </a:r>
          </a:p>
          <a:p>
            <a:r>
              <a:rPr sz="1300">
                <a:solidFill>
                  <a:srgbClr val="CCD6E0"/>
                </a:solidFill>
              </a:rPr>
              <a:t>    - Build, operate, and maintain the system</a:t>
            </a:r>
          </a:p>
          <a:p>
            <a:r>
              <a:rPr sz="1500">
                <a:solidFill>
                  <a:srgbClr val="FFFFFF"/>
                </a:solidFill>
              </a:rPr>
              <a:t>• Financial data APIs (e.g. FMP)</a:t>
            </a:r>
          </a:p>
          <a:p>
            <a:r>
              <a:rPr sz="1300">
                <a:solidFill>
                  <a:srgbClr val="CCD6E0"/>
                </a:solidFill>
              </a:rPr>
              <a:t>    - Rate limits and availability constrain the system</a:t>
            </a:r>
          </a:p>
        </p:txBody>
      </p:sp>
      <p:sp>
        <p:nvSpPr>
          <p:cNvPr id="6" name="Rectangle 5"/>
          <p:cNvSpPr/>
          <p:nvPr/>
        </p:nvSpPr>
        <p:spPr>
          <a:xfrm>
            <a:off x="6099048" y="1234440"/>
            <a:ext cx="22860" cy="5212080"/>
          </a:xfrm>
          <a:prstGeom prst="rect">
            <a:avLst/>
          </a:prstGeom>
          <a:solidFill>
            <a:srgbClr val="1E2F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263640" y="1234440"/>
            <a:ext cx="54864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1" i="0">
                <a:solidFill>
                  <a:srgbClr val="00B4D8"/>
                </a:solidFill>
              </a:rPr>
              <a:t>End Users (the Product)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263640" y="1691640"/>
            <a:ext cx="5486400" cy="4663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500">
                <a:solidFill>
                  <a:srgbClr val="FFFFFF"/>
                </a:solidFill>
              </a:rPr>
              <a:t>• Retail investors</a:t>
            </a:r>
          </a:p>
          <a:p>
            <a:r>
              <a:rPr sz="1300">
                <a:solidFill>
                  <a:srgbClr val="CCD6E0"/>
                </a:solidFill>
              </a:rPr>
              <a:t>    - Simple dashboard — predictions vs. actuals</a:t>
            </a:r>
          </a:p>
          <a:p>
            <a:r>
              <a:rPr sz="1300">
                <a:solidFill>
                  <a:srgbClr val="CCD6E0"/>
                </a:solidFill>
              </a:rPr>
              <a:t>    - Transparent accuracy — see if the model was right</a:t>
            </a:r>
          </a:p>
          <a:p>
            <a:r>
              <a:rPr sz="1500">
                <a:solidFill>
                  <a:srgbClr val="FFFFFF"/>
                </a:solidFill>
              </a:rPr>
              <a:t>• Day traders</a:t>
            </a:r>
          </a:p>
          <a:p>
            <a:r>
              <a:rPr sz="1300">
                <a:solidFill>
                  <a:srgbClr val="CCD6E0"/>
                </a:solidFill>
              </a:rPr>
              <a:t>    - Low-latency data and technical indicators</a:t>
            </a:r>
          </a:p>
          <a:p>
            <a:r>
              <a:rPr sz="1300">
                <a:solidFill>
                  <a:srgbClr val="CCD6E0"/>
                </a:solidFill>
              </a:rPr>
              <a:t>    - RSI, MACD, Bollinger Bands in context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D1B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164592"/>
            <a:ext cx="114300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 i="0">
                <a:solidFill>
                  <a:srgbClr val="00B4D8"/>
                </a:solidFill>
              </a:rPr>
              <a:t>Business Requirements</a:t>
            </a:r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88952" cy="45720"/>
          </a:xfrm>
          <a:prstGeom prst="rect">
            <a:avLst/>
          </a:prstGeom>
          <a:solidFill>
            <a:srgbClr val="00B4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65760" y="1234440"/>
            <a:ext cx="54864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1" i="0">
                <a:solidFill>
                  <a:srgbClr val="00B4D8"/>
                </a:solidFill>
              </a:rPr>
              <a:t>The Problem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1691640"/>
            <a:ext cx="5486400" cy="4663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500">
                <a:solidFill>
                  <a:srgbClr val="FFFFFF"/>
                </a:solidFill>
              </a:rPr>
              <a:t>• Retail investors lack institutional-grade prediction tools</a:t>
            </a:r>
          </a:p>
          <a:p>
            <a:r>
              <a:rPr sz="1500">
                <a:solidFill>
                  <a:srgbClr val="FFFFFF"/>
                </a:solidFill>
              </a:rPr>
              <a:t>• Existing tools hide whether predictions were ever correct</a:t>
            </a:r>
          </a:p>
          <a:p>
            <a:r>
              <a:rPr sz="1500">
                <a:solidFill>
                  <a:srgbClr val="FFFFFF"/>
                </a:solidFill>
              </a:rPr>
              <a:t>• Setup complexity keeps individual traders out</a:t>
            </a:r>
          </a:p>
        </p:txBody>
      </p:sp>
      <p:sp>
        <p:nvSpPr>
          <p:cNvPr id="6" name="Rectangle 5"/>
          <p:cNvSpPr/>
          <p:nvPr/>
        </p:nvSpPr>
        <p:spPr>
          <a:xfrm>
            <a:off x="6099048" y="1234440"/>
            <a:ext cx="22860" cy="5212080"/>
          </a:xfrm>
          <a:prstGeom prst="rect">
            <a:avLst/>
          </a:prstGeom>
          <a:solidFill>
            <a:srgbClr val="1E2F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263640" y="1234440"/>
            <a:ext cx="54864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1" i="0">
                <a:solidFill>
                  <a:srgbClr val="00B4D8"/>
                </a:solidFill>
              </a:rPr>
              <a:t>Our Goals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263640" y="1691640"/>
            <a:ext cx="5486400" cy="4663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500">
                <a:solidFill>
                  <a:srgbClr val="FFFFFF"/>
                </a:solidFill>
              </a:rPr>
              <a:t>• Sub-100 ms predictions — not batch-only insights</a:t>
            </a:r>
          </a:p>
          <a:p>
            <a:r>
              <a:rPr sz="1500">
                <a:solidFill>
                  <a:srgbClr val="FFFFFF"/>
                </a:solidFill>
              </a:rPr>
              <a:t>• Persist predictions + actuals so accuracy is publicly verifiable</a:t>
            </a:r>
          </a:p>
          <a:p>
            <a:r>
              <a:rPr sz="1500">
                <a:solidFill>
                  <a:srgbClr val="FFFFFF"/>
                </a:solidFill>
              </a:rPr>
              <a:t>• Docker Compose one-command deploy — accessible to everyone</a:t>
            </a:r>
          </a:p>
          <a:p>
            <a:r>
              <a:rPr sz="1500">
                <a:solidFill>
                  <a:srgbClr val="FFFFFF"/>
                </a:solidFill>
              </a:rPr>
              <a:t>• Meet all COSC 471 software engineering outcomes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D1B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164592"/>
            <a:ext cx="114300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 i="0">
                <a:solidFill>
                  <a:srgbClr val="00B4D8"/>
                </a:solidFill>
              </a:rPr>
              <a:t>Vision Document — Features and Quality Bar</a:t>
            </a:r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88952" cy="45720"/>
          </a:xfrm>
          <a:prstGeom prst="rect">
            <a:avLst/>
          </a:prstGeom>
          <a:solidFill>
            <a:srgbClr val="00B4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457200" y="1234440"/>
          <a:ext cx="11247120" cy="268833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749040"/>
                <a:gridCol w="3749040"/>
                <a:gridCol w="3749040"/>
              </a:tblGrid>
              <a:tr h="384048">
                <a:tc>
                  <a:txBody>
                    <a:bodyPr/>
                    <a:lstStyle/>
                    <a:p>
                      <a:r>
                        <a:rPr sz="1400" b="1">
                          <a:solidFill>
                            <a:srgbClr val="0D1B2A"/>
                          </a:solidFill>
                        </a:rPr>
                        <a:t>ID</a:t>
                      </a:r>
                    </a:p>
                  </a:txBody>
                  <a:tcPr>
                    <a:solidFill>
                      <a:srgbClr val="00B4D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1">
                          <a:solidFill>
                            <a:srgbClr val="0D1B2A"/>
                          </a:solidFill>
                        </a:rPr>
                        <a:t>Feature</a:t>
                      </a:r>
                    </a:p>
                  </a:txBody>
                  <a:tcPr>
                    <a:solidFill>
                      <a:srgbClr val="00B4D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1">
                          <a:solidFill>
                            <a:srgbClr val="0D1B2A"/>
                          </a:solidFill>
                        </a:rPr>
                        <a:t>Status</a:t>
                      </a:r>
                    </a:p>
                  </a:txBody>
                  <a:tcPr>
                    <a:solidFill>
                      <a:srgbClr val="00B4D8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r>
                        <a:rPr sz="1300">
                          <a:solidFill>
                            <a:srgbClr val="FFFFFF"/>
                          </a:solidFill>
                        </a:rPr>
                        <a:t>FEA-01</a:t>
                      </a:r>
                    </a:p>
                  </a:txBody>
                  <a:tcPr>
                    <a:solidFill>
                      <a:srgbClr val="1E2F4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>
                          <a:solidFill>
                            <a:srgbClr val="FFFFFF"/>
                          </a:solidFill>
                        </a:rPr>
                        <a:t>Real-time OHLCV data ingestion</a:t>
                      </a:r>
                    </a:p>
                  </a:txBody>
                  <a:tcPr>
                    <a:solidFill>
                      <a:srgbClr val="1E2F4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>
                          <a:solidFill>
                            <a:srgbClr val="FFFFFF"/>
                          </a:solidFill>
                        </a:rPr>
                        <a:t>Delivered</a:t>
                      </a:r>
                    </a:p>
                  </a:txBody>
                  <a:tcPr>
                    <a:solidFill>
                      <a:srgbClr val="1E2F40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r>
                        <a:rPr sz="1300">
                          <a:solidFill>
                            <a:srgbClr val="FFFFFF"/>
                          </a:solidFill>
                        </a:rPr>
                        <a:t>FEA-02</a:t>
                      </a:r>
                    </a:p>
                  </a:txBody>
                  <a:tcPr>
                    <a:solidFill>
                      <a:srgbClr val="16283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>
                          <a:solidFill>
                            <a:srgbClr val="FFFFFF"/>
                          </a:solidFill>
                        </a:rPr>
                        <a:t>Feature engineering — RSI, MACD, Bollinger Bands</a:t>
                      </a:r>
                    </a:p>
                  </a:txBody>
                  <a:tcPr>
                    <a:solidFill>
                      <a:srgbClr val="16283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>
                          <a:solidFill>
                            <a:srgbClr val="FFFFFF"/>
                          </a:solidFill>
                        </a:rPr>
                        <a:t>Delivered</a:t>
                      </a:r>
                    </a:p>
                  </a:txBody>
                  <a:tcPr>
                    <a:solidFill>
                      <a:srgbClr val="16283A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r>
                        <a:rPr sz="1300">
                          <a:solidFill>
                            <a:srgbClr val="FFFFFF"/>
                          </a:solidFill>
                        </a:rPr>
                        <a:t>FEA-03</a:t>
                      </a:r>
                    </a:p>
                  </a:txBody>
                  <a:tcPr>
                    <a:solidFill>
                      <a:srgbClr val="1E2F4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>
                          <a:solidFill>
                            <a:srgbClr val="FFFFFF"/>
                          </a:solidFill>
                        </a:rPr>
                        <a:t>XGBoost inference with confidence output</a:t>
                      </a:r>
                    </a:p>
                  </a:txBody>
                  <a:tcPr>
                    <a:solidFill>
                      <a:srgbClr val="1E2F4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>
                          <a:solidFill>
                            <a:srgbClr val="FFFFFF"/>
                          </a:solidFill>
                        </a:rPr>
                        <a:t>Delivered</a:t>
                      </a:r>
                    </a:p>
                  </a:txBody>
                  <a:tcPr>
                    <a:solidFill>
                      <a:srgbClr val="1E2F40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r>
                        <a:rPr sz="1300">
                          <a:solidFill>
                            <a:srgbClr val="FFFFFF"/>
                          </a:solidFill>
                        </a:rPr>
                        <a:t>FEA-04</a:t>
                      </a:r>
                    </a:p>
                  </a:txBody>
                  <a:tcPr>
                    <a:solidFill>
                      <a:srgbClr val="16283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>
                          <a:solidFill>
                            <a:srgbClr val="FFFFFF"/>
                          </a:solidFill>
                        </a:rPr>
                        <a:t>Interactive React dashboard with charts</a:t>
                      </a:r>
                    </a:p>
                  </a:txBody>
                  <a:tcPr>
                    <a:solidFill>
                      <a:srgbClr val="16283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>
                          <a:solidFill>
                            <a:srgbClr val="FFFFFF"/>
                          </a:solidFill>
                        </a:rPr>
                        <a:t>Delivered</a:t>
                      </a:r>
                    </a:p>
                  </a:txBody>
                  <a:tcPr>
                    <a:solidFill>
                      <a:srgbClr val="16283A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r>
                        <a:rPr sz="1300">
                          <a:solidFill>
                            <a:srgbClr val="FFFFFF"/>
                          </a:solidFill>
                        </a:rPr>
                        <a:t>FEA-05</a:t>
                      </a:r>
                    </a:p>
                  </a:txBody>
                  <a:tcPr>
                    <a:solidFill>
                      <a:srgbClr val="1E2F4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>
                          <a:solidFill>
                            <a:srgbClr val="FFFFFF"/>
                          </a:solidFill>
                        </a:rPr>
                        <a:t>Historical accuracy tracking in PostgreSQL</a:t>
                      </a:r>
                    </a:p>
                  </a:txBody>
                  <a:tcPr>
                    <a:solidFill>
                      <a:srgbClr val="1E2F4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>
                          <a:solidFill>
                            <a:srgbClr val="FFFFFF"/>
                          </a:solidFill>
                        </a:rPr>
                        <a:t>Delivered</a:t>
                      </a:r>
                    </a:p>
                  </a:txBody>
                  <a:tcPr>
                    <a:solidFill>
                      <a:srgbClr val="1E2F40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r>
                        <a:rPr sz="1300">
                          <a:solidFill>
                            <a:srgbClr val="FFFFFF"/>
                          </a:solidFill>
                        </a:rPr>
                        <a:t>FEA-06</a:t>
                      </a:r>
                    </a:p>
                  </a:txBody>
                  <a:tcPr>
                    <a:solidFill>
                      <a:srgbClr val="16283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>
                          <a:solidFill>
                            <a:srgbClr val="FFFFFF"/>
                          </a:solidFill>
                        </a:rPr>
                        <a:t>REST API  (WebSocket on roadmap)</a:t>
                      </a:r>
                    </a:p>
                  </a:txBody>
                  <a:tcPr>
                    <a:solidFill>
                      <a:srgbClr val="16283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>
                          <a:solidFill>
                            <a:srgbClr val="FFFFFF"/>
                          </a:solidFill>
                        </a:rPr>
                        <a:t>REST delivered</a:t>
                      </a:r>
                    </a:p>
                  </a:txBody>
                  <a:tcPr>
                    <a:solidFill>
                      <a:srgbClr val="16283A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457200" y="5440680"/>
            <a:ext cx="112471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 i="0">
                <a:solidFill>
                  <a:srgbClr val="00B4D8"/>
                </a:solidFill>
              </a:rPr>
              <a:t>Quality bar:  &gt;=80% pytest coverage  |  API latency &lt;100 ms  |  Docker-deployable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D1B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164592"/>
            <a:ext cx="114300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 i="0">
                <a:solidFill>
                  <a:srgbClr val="00B4D8"/>
                </a:solidFill>
              </a:rPr>
              <a:t>Architecture — Three Tiers + Docker Compose</a:t>
            </a:r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88952" cy="45720"/>
          </a:xfrm>
          <a:prstGeom prst="rect">
            <a:avLst/>
          </a:prstGeom>
          <a:solidFill>
            <a:srgbClr val="00B4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65760" y="1234440"/>
            <a:ext cx="54864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1" i="0">
                <a:solidFill>
                  <a:srgbClr val="00B4D8"/>
                </a:solidFill>
              </a:rPr>
              <a:t>Three Tiers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1691640"/>
            <a:ext cx="5486400" cy="4663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500">
                <a:solidFill>
                  <a:srgbClr val="FFFFFF"/>
                </a:solidFill>
              </a:rPr>
              <a:t>• Presentation</a:t>
            </a:r>
          </a:p>
          <a:p>
            <a:r>
              <a:rPr sz="1300">
                <a:solidFill>
                  <a:srgbClr val="CCD6E0"/>
                </a:solidFill>
              </a:rPr>
              <a:t>    - React 19 + TypeScript + Vite</a:t>
            </a:r>
          </a:p>
          <a:p>
            <a:r>
              <a:rPr sz="1300">
                <a:solidFill>
                  <a:srgbClr val="CCD6E0"/>
                </a:solidFill>
              </a:rPr>
              <a:t>    - TanStack Router/Query  |  Lightweight Charts</a:t>
            </a:r>
          </a:p>
          <a:p>
            <a:r>
              <a:rPr sz="1500">
                <a:solidFill>
                  <a:srgbClr val="FFFFFF"/>
                </a:solidFill>
              </a:rPr>
              <a:t>• Application</a:t>
            </a:r>
          </a:p>
          <a:p>
            <a:r>
              <a:rPr sz="1300">
                <a:solidFill>
                  <a:srgbClr val="CCD6E0"/>
                </a:solidFill>
              </a:rPr>
              <a:t>    - FastAPI (async)  |  Background Poller</a:t>
            </a:r>
          </a:p>
          <a:p>
            <a:r>
              <a:rPr sz="1300">
                <a:solidFill>
                  <a:srgbClr val="CCD6E0"/>
                </a:solidFill>
              </a:rPr>
              <a:t>    - XGBoost model bundles (Legacy + NextDayPath)</a:t>
            </a:r>
          </a:p>
          <a:p>
            <a:r>
              <a:rPr sz="1500">
                <a:solidFill>
                  <a:srgbClr val="FFFFFF"/>
                </a:solidFill>
              </a:rPr>
              <a:t>• Data</a:t>
            </a:r>
          </a:p>
          <a:p>
            <a:r>
              <a:rPr sz="1300">
                <a:solidFill>
                  <a:srgbClr val="CCD6E0"/>
                </a:solidFill>
              </a:rPr>
              <a:t>    - PostgreSQL 16  |  SQLAlchemy 2.0  |  Alembic</a:t>
            </a:r>
          </a:p>
        </p:txBody>
      </p:sp>
      <p:sp>
        <p:nvSpPr>
          <p:cNvPr id="6" name="Rectangle 5"/>
          <p:cNvSpPr/>
          <p:nvPr/>
        </p:nvSpPr>
        <p:spPr>
          <a:xfrm>
            <a:off x="6099048" y="1234440"/>
            <a:ext cx="22860" cy="5212080"/>
          </a:xfrm>
          <a:prstGeom prst="rect">
            <a:avLst/>
          </a:prstGeom>
          <a:solidFill>
            <a:srgbClr val="1E2F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263640" y="1234440"/>
            <a:ext cx="54864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1" i="0">
                <a:solidFill>
                  <a:srgbClr val="00B4D8"/>
                </a:solidFill>
              </a:rPr>
              <a:t>Docker Compose Services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263640" y="1691640"/>
            <a:ext cx="5486400" cy="4663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500">
                <a:solidFill>
                  <a:srgbClr val="FFFFFF"/>
                </a:solidFill>
              </a:rPr>
              <a:t>• db  — Postgres 16 with healthcheck</a:t>
            </a:r>
          </a:p>
          <a:p>
            <a:r>
              <a:rPr sz="1500">
                <a:solidFill>
                  <a:srgbClr val="FFFFFF"/>
                </a:solidFill>
              </a:rPr>
              <a:t>• prestart  — Alembic migrations before anything else</a:t>
            </a:r>
          </a:p>
          <a:p>
            <a:r>
              <a:rPr sz="1300">
                <a:solidFill>
                  <a:srgbClr val="CCD6E0"/>
                </a:solidFill>
              </a:rPr>
              <a:t>    - Blocks backend from starting until schema is ready</a:t>
            </a:r>
          </a:p>
          <a:p>
            <a:r>
              <a:rPr sz="1500">
                <a:solidFill>
                  <a:srgbClr val="FFFFFF"/>
                </a:solidFill>
              </a:rPr>
              <a:t>• backend  — FastAPI on port 8000</a:t>
            </a:r>
          </a:p>
          <a:p>
            <a:r>
              <a:rPr sz="1300">
                <a:solidFill>
                  <a:srgbClr val="CCD6E0"/>
                </a:solidFill>
              </a:rPr>
              <a:t>    - Mounts datasets/ and model_artifacts/ (read-only)</a:t>
            </a:r>
          </a:p>
          <a:p>
            <a:r>
              <a:rPr sz="1500">
                <a:solidFill>
                  <a:srgbClr val="FFFFFF"/>
                </a:solidFill>
              </a:rPr>
              <a:t>• frontend  — Vite/React on port 5173</a:t>
            </a:r>
          </a:p>
          <a:p>
            <a:r>
              <a:rPr sz="1500">
                <a:solidFill>
                  <a:srgbClr val="FFFFFF"/>
                </a:solidFill>
              </a:rPr>
              <a:t>• adminer  — DB admin UI on port 8082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D1B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164592"/>
            <a:ext cx="114300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 i="0">
                <a:solidFill>
                  <a:srgbClr val="00B4D8"/>
                </a:solidFill>
              </a:rPr>
              <a:t>Architecture — Data Flow</a:t>
            </a:r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88952" cy="45720"/>
          </a:xfrm>
          <a:prstGeom prst="rect">
            <a:avLst/>
          </a:prstGeom>
          <a:solidFill>
            <a:srgbClr val="00B4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457200" y="1280160"/>
          <a:ext cx="11247120" cy="230428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749040"/>
                <a:gridCol w="3749040"/>
                <a:gridCol w="3749040"/>
              </a:tblGrid>
              <a:tr h="384048">
                <a:tc>
                  <a:txBody>
                    <a:bodyPr/>
                    <a:lstStyle/>
                    <a:p>
                      <a:r>
                        <a:rPr sz="1400" b="1">
                          <a:solidFill>
                            <a:srgbClr val="0D1B2A"/>
                          </a:solidFill>
                        </a:rPr>
                        <a:t>Step</a:t>
                      </a:r>
                    </a:p>
                  </a:txBody>
                  <a:tcPr>
                    <a:solidFill>
                      <a:srgbClr val="00B4D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1">
                          <a:solidFill>
                            <a:srgbClr val="0D1B2A"/>
                          </a:solidFill>
                        </a:rPr>
                        <a:t>What Happens</a:t>
                      </a:r>
                    </a:p>
                  </a:txBody>
                  <a:tcPr>
                    <a:solidFill>
                      <a:srgbClr val="00B4D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1">
                          <a:solidFill>
                            <a:srgbClr val="0D1B2A"/>
                          </a:solidFill>
                        </a:rPr>
                        <a:t>Key Detail</a:t>
                      </a:r>
                    </a:p>
                  </a:txBody>
                  <a:tcPr>
                    <a:solidFill>
                      <a:srgbClr val="00B4D8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r>
                        <a:rPr sz="1300">
                          <a:solidFill>
                            <a:srgbClr val="FFFFFF"/>
                          </a:solidFill>
                        </a:rPr>
                        <a:t>1  Ingest</a:t>
                      </a:r>
                    </a:p>
                  </a:txBody>
                  <a:tcPr>
                    <a:solidFill>
                      <a:srgbClr val="1E2F4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>
                          <a:solidFill>
                            <a:srgbClr val="FFFFFF"/>
                          </a:solidFill>
                        </a:rPr>
                        <a:t>Background poller fetches OHLCV</a:t>
                      </a:r>
                    </a:p>
                  </a:txBody>
                  <a:tcPr>
                    <a:solidFill>
                      <a:srgbClr val="1E2F4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>
                          <a:solidFill>
                            <a:srgbClr val="FFFFFF"/>
                          </a:solidFill>
                        </a:rPr>
                        <a:t>Mocked in dev; real API in prod</a:t>
                      </a:r>
                    </a:p>
                  </a:txBody>
                  <a:tcPr>
                    <a:solidFill>
                      <a:srgbClr val="1E2F40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r>
                        <a:rPr sz="1300">
                          <a:solidFill>
                            <a:srgbClr val="FFFFFF"/>
                          </a:solidFill>
                        </a:rPr>
                        <a:t>2  Process</a:t>
                      </a:r>
                    </a:p>
                  </a:txBody>
                  <a:tcPr>
                    <a:solidFill>
                      <a:srgbClr val="16283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>
                          <a:solidFill>
                            <a:srgbClr val="FFFFFF"/>
                          </a:solidFill>
                        </a:rPr>
                        <a:t>pandas computes RSI, MACD, Bollinger Bands</a:t>
                      </a:r>
                    </a:p>
                  </a:txBody>
                  <a:tcPr>
                    <a:solidFill>
                      <a:srgbClr val="16283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>
                          <a:solidFill>
                            <a:srgbClr val="FFFFFF"/>
                          </a:solidFill>
                        </a:rPr>
                        <a:t>Rolling-window calculations on raw bars</a:t>
                      </a:r>
                    </a:p>
                  </a:txBody>
                  <a:tcPr>
                    <a:solidFill>
                      <a:srgbClr val="16283A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r>
                        <a:rPr sz="1300">
                          <a:solidFill>
                            <a:srgbClr val="FFFFFF"/>
                          </a:solidFill>
                        </a:rPr>
                        <a:t>3  Infer</a:t>
                      </a:r>
                    </a:p>
                  </a:txBody>
                  <a:tcPr>
                    <a:solidFill>
                      <a:srgbClr val="1E2F4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>
                          <a:solidFill>
                            <a:srgbClr val="FFFFFF"/>
                          </a:solidFill>
                        </a:rPr>
                        <a:t>XGBoost bundle predicts next close price</a:t>
                      </a:r>
                    </a:p>
                  </a:txBody>
                  <a:tcPr>
                    <a:solidFill>
                      <a:srgbClr val="1E2F4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>
                          <a:solidFill>
                            <a:srgbClr val="FFFFFF"/>
                          </a:solidFill>
                        </a:rPr>
                        <a:t>Sub-35 ms  |  bundle selected via ACTIVE_MODEL env</a:t>
                      </a:r>
                    </a:p>
                  </a:txBody>
                  <a:tcPr>
                    <a:solidFill>
                      <a:srgbClr val="1E2F40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r>
                        <a:rPr sz="1300">
                          <a:solidFill>
                            <a:srgbClr val="FFFFFF"/>
                          </a:solidFill>
                        </a:rPr>
                        <a:t>4  Persist</a:t>
                      </a:r>
                    </a:p>
                  </a:txBody>
                  <a:tcPr>
                    <a:solidFill>
                      <a:srgbClr val="16283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>
                          <a:solidFill>
                            <a:srgbClr val="FFFFFF"/>
                          </a:solidFill>
                        </a:rPr>
                        <a:t>Prediction + actual stored in Postgres</a:t>
                      </a:r>
                    </a:p>
                  </a:txBody>
                  <a:tcPr>
                    <a:solidFill>
                      <a:srgbClr val="16283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>
                          <a:solidFill>
                            <a:srgbClr val="FFFFFF"/>
                          </a:solidFill>
                        </a:rPr>
                        <a:t>Enables accuracy tracking over time</a:t>
                      </a:r>
                    </a:p>
                  </a:txBody>
                  <a:tcPr>
                    <a:solidFill>
                      <a:srgbClr val="16283A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r>
                        <a:rPr sz="1300">
                          <a:solidFill>
                            <a:srgbClr val="FFFFFF"/>
                          </a:solidFill>
                        </a:rPr>
                        <a:t>5  Consume</a:t>
                      </a:r>
                    </a:p>
                  </a:txBody>
                  <a:tcPr>
                    <a:solidFill>
                      <a:srgbClr val="1E2F4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>
                          <a:solidFill>
                            <a:srgbClr val="FFFFFF"/>
                          </a:solidFill>
                        </a:rPr>
                        <a:t>Frontend fetches via REST</a:t>
                      </a:r>
                    </a:p>
                  </a:txBody>
                  <a:tcPr>
                    <a:solidFill>
                      <a:srgbClr val="1E2F4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>
                          <a:solidFill>
                            <a:srgbClr val="FFFFFF"/>
                          </a:solidFill>
                        </a:rPr>
                        <a:t>Chart renders predicted vs. actual side by side</a:t>
                      </a:r>
                    </a:p>
                  </a:txBody>
                  <a:tcPr>
                    <a:solidFill>
                      <a:srgbClr val="1E2F40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457200" y="5532120"/>
            <a:ext cx="112471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1">
                <a:solidFill>
                  <a:srgbClr val="CCD6E0"/>
                </a:solidFill>
              </a:rPr>
              <a:t>Insert diagram: Documentation/Screenshot_2026-01-27_at_7.50.23_PM.png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D1B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164592"/>
            <a:ext cx="114300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 i="0">
                <a:solidFill>
                  <a:srgbClr val="00B4D8"/>
                </a:solidFill>
              </a:rPr>
              <a:t>Configuration Management — Version Control</a:t>
            </a:r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88952" cy="45720"/>
          </a:xfrm>
          <a:prstGeom prst="rect">
            <a:avLst/>
          </a:prstGeom>
          <a:solidFill>
            <a:srgbClr val="00B4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65760" y="1234440"/>
            <a:ext cx="54864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1" i="0">
                <a:solidFill>
                  <a:srgbClr val="00B4D8"/>
                </a:solidFill>
              </a:rPr>
              <a:t>Git Branching (Modified Git Flow)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1691640"/>
            <a:ext cx="5486400" cy="4663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500">
                <a:solidFill>
                  <a:srgbClr val="FFFFFF"/>
                </a:solidFill>
              </a:rPr>
              <a:t>• main  — production-ready; version tags here</a:t>
            </a:r>
          </a:p>
          <a:p>
            <a:r>
              <a:rPr sz="1500">
                <a:solidFill>
                  <a:srgbClr val="FFFFFF"/>
                </a:solidFill>
              </a:rPr>
              <a:t>• develop  — integration branch</a:t>
            </a:r>
          </a:p>
          <a:p>
            <a:r>
              <a:rPr sz="1500">
                <a:solidFill>
                  <a:srgbClr val="FFFFFF"/>
                </a:solidFill>
              </a:rPr>
              <a:t>• feature/&lt;issue-id&gt;-&lt;desc&gt;</a:t>
            </a:r>
          </a:p>
          <a:p>
            <a:r>
              <a:rPr sz="1500">
                <a:solidFill>
                  <a:srgbClr val="FFFFFF"/>
                </a:solidFill>
              </a:rPr>
              <a:t>• bugfix/&lt;issue-id&gt;-&lt;desc&gt;</a:t>
            </a:r>
          </a:p>
          <a:p>
            <a:r>
              <a:rPr sz="1500">
                <a:solidFill>
                  <a:srgbClr val="FFFFFF"/>
                </a:solidFill>
              </a:rPr>
              <a:t>• hotfix/&lt;issue-id&gt;-&lt;desc&gt;</a:t>
            </a:r>
          </a:p>
          <a:p>
            <a:r>
              <a:rPr sz="1500">
                <a:solidFill>
                  <a:srgbClr val="FFFFFF"/>
                </a:solidFill>
              </a:rPr>
              <a:t>• PRs required for all merges to develop and main</a:t>
            </a:r>
          </a:p>
        </p:txBody>
      </p:sp>
      <p:sp>
        <p:nvSpPr>
          <p:cNvPr id="6" name="Rectangle 5"/>
          <p:cNvSpPr/>
          <p:nvPr/>
        </p:nvSpPr>
        <p:spPr>
          <a:xfrm>
            <a:off x="6099048" y="1234440"/>
            <a:ext cx="22860" cy="5212080"/>
          </a:xfrm>
          <a:prstGeom prst="rect">
            <a:avLst/>
          </a:prstGeom>
          <a:solidFill>
            <a:srgbClr val="1E2F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263640" y="1234440"/>
            <a:ext cx="54864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1" i="0">
                <a:solidFill>
                  <a:srgbClr val="00B4D8"/>
                </a:solidFill>
              </a:rPr>
              <a:t>Commit Convention (Conventional Commits)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263640" y="1691640"/>
            <a:ext cx="5486400" cy="4663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500">
                <a:solidFill>
                  <a:srgbClr val="FFFFFF"/>
                </a:solidFill>
              </a:rPr>
              <a:t>• feat:   new feature</a:t>
            </a:r>
          </a:p>
          <a:p>
            <a:r>
              <a:rPr sz="1500">
                <a:solidFill>
                  <a:srgbClr val="FFFFFF"/>
                </a:solidFill>
              </a:rPr>
              <a:t>• fix:    bug fix</a:t>
            </a:r>
          </a:p>
          <a:p>
            <a:r>
              <a:rPr sz="1500">
                <a:solidFill>
                  <a:srgbClr val="FFFFFF"/>
                </a:solidFill>
              </a:rPr>
              <a:t>• docs:   documentation only</a:t>
            </a:r>
          </a:p>
          <a:p>
            <a:r>
              <a:rPr sz="1500">
                <a:solidFill>
                  <a:srgbClr val="FFFFFF"/>
                </a:solidFill>
              </a:rPr>
              <a:t>• refactor:   no bug fix / no new feature</a:t>
            </a:r>
          </a:p>
          <a:p>
            <a:r>
              <a:rPr sz="1500">
                <a:solidFill>
                  <a:srgbClr val="FFFFFF"/>
                </a:solidFill>
              </a:rPr>
              <a:t>• test:   adding or correcting tests</a:t>
            </a:r>
          </a:p>
          <a:p>
            <a:r>
              <a:rPr sz="1500">
                <a:solidFill>
                  <a:srgbClr val="FFFFFF"/>
                </a:solidFill>
              </a:rPr>
              <a:t>• Change requests: GitHub Issues with change-request label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D1B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164592"/>
            <a:ext cx="114300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 i="0">
                <a:solidFill>
                  <a:srgbClr val="00B4D8"/>
                </a:solidFill>
              </a:rPr>
              <a:t>CM — Internal Standards and Release Process</a:t>
            </a:r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88952" cy="45720"/>
          </a:xfrm>
          <a:prstGeom prst="rect">
            <a:avLst/>
          </a:prstGeom>
          <a:solidFill>
            <a:srgbClr val="00B4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457200" y="1234440"/>
          <a:ext cx="11247120" cy="268833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749040"/>
                <a:gridCol w="3749040"/>
                <a:gridCol w="3749040"/>
              </a:tblGrid>
              <a:tr h="384048">
                <a:tc>
                  <a:txBody>
                    <a:bodyPr/>
                    <a:lstStyle/>
                    <a:p>
                      <a:r>
                        <a:rPr sz="1400" b="1">
                          <a:solidFill>
                            <a:srgbClr val="0D1B2A"/>
                          </a:solidFill>
                        </a:rPr>
                        <a:t>Area</a:t>
                      </a:r>
                    </a:p>
                  </a:txBody>
                  <a:tcPr>
                    <a:solidFill>
                      <a:srgbClr val="00B4D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1">
                          <a:solidFill>
                            <a:srgbClr val="0D1B2A"/>
                          </a:solidFill>
                        </a:rPr>
                        <a:t>Tool</a:t>
                      </a:r>
                    </a:p>
                  </a:txBody>
                  <a:tcPr>
                    <a:solidFill>
                      <a:srgbClr val="00B4D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1">
                          <a:solidFill>
                            <a:srgbClr val="0D1B2A"/>
                          </a:solidFill>
                        </a:rPr>
                        <a:t>What It Enforces</a:t>
                      </a:r>
                    </a:p>
                  </a:txBody>
                  <a:tcPr>
                    <a:solidFill>
                      <a:srgbClr val="00B4D8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r>
                        <a:rPr sz="1300">
                          <a:solidFill>
                            <a:srgbClr val="FFFFFF"/>
                          </a:solidFill>
                        </a:rPr>
                        <a:t>Python</a:t>
                      </a:r>
                    </a:p>
                  </a:txBody>
                  <a:tcPr>
                    <a:solidFill>
                      <a:srgbClr val="1E2F4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>
                          <a:solidFill>
                            <a:srgbClr val="FFFFFF"/>
                          </a:solidFill>
                        </a:rPr>
                        <a:t>ruff</a:t>
                      </a:r>
                    </a:p>
                  </a:txBody>
                  <a:tcPr>
                    <a:solidFill>
                      <a:srgbClr val="1E2F4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>
                          <a:solidFill>
                            <a:srgbClr val="FFFFFF"/>
                          </a:solidFill>
                        </a:rPr>
                        <a:t>PEP 8 lint + auto-format</a:t>
                      </a:r>
                    </a:p>
                  </a:txBody>
                  <a:tcPr>
                    <a:solidFill>
                      <a:srgbClr val="1E2F40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r>
                        <a:rPr sz="1300">
                          <a:solidFill>
                            <a:srgbClr val="FFFFFF"/>
                          </a:solidFill>
                        </a:rPr>
                        <a:t>Python</a:t>
                      </a:r>
                    </a:p>
                  </a:txBody>
                  <a:tcPr>
                    <a:solidFill>
                      <a:srgbClr val="16283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>
                          <a:solidFill>
                            <a:srgbClr val="FFFFFF"/>
                          </a:solidFill>
                        </a:rPr>
                        <a:t>mypy</a:t>
                      </a:r>
                    </a:p>
                  </a:txBody>
                  <a:tcPr>
                    <a:solidFill>
                      <a:srgbClr val="16283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>
                          <a:solidFill>
                            <a:srgbClr val="FFFFFF"/>
                          </a:solidFill>
                        </a:rPr>
                        <a:t>Static type checking on app/</a:t>
                      </a:r>
                    </a:p>
                  </a:txBody>
                  <a:tcPr>
                    <a:solidFill>
                      <a:srgbClr val="16283A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r>
                        <a:rPr sz="1300">
                          <a:solidFill>
                            <a:srgbClr val="FFFFFF"/>
                          </a:solidFill>
                        </a:rPr>
                        <a:t>TypeScript</a:t>
                      </a:r>
                    </a:p>
                  </a:txBody>
                  <a:tcPr>
                    <a:solidFill>
                      <a:srgbClr val="1E2F4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>
                          <a:solidFill>
                            <a:srgbClr val="FFFFFF"/>
                          </a:solidFill>
                        </a:rPr>
                        <a:t>Biome</a:t>
                      </a:r>
                    </a:p>
                  </a:txBody>
                  <a:tcPr>
                    <a:solidFill>
                      <a:srgbClr val="1E2F4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>
                          <a:solidFill>
                            <a:srgbClr val="FFFFFF"/>
                          </a:solidFill>
                        </a:rPr>
                        <a:t>Strict TS, Airbnb-style formatting</a:t>
                      </a:r>
                    </a:p>
                  </a:txBody>
                  <a:tcPr>
                    <a:solidFill>
                      <a:srgbClr val="1E2F40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r>
                        <a:rPr sz="1300">
                          <a:solidFill>
                            <a:srgbClr val="FFFFFF"/>
                          </a:solidFill>
                        </a:rPr>
                        <a:t>Backend deps</a:t>
                      </a:r>
                    </a:p>
                  </a:txBody>
                  <a:tcPr>
                    <a:solidFill>
                      <a:srgbClr val="16283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>
                          <a:solidFill>
                            <a:srgbClr val="FFFFFF"/>
                          </a:solidFill>
                        </a:rPr>
                        <a:t>uv</a:t>
                      </a:r>
                    </a:p>
                  </a:txBody>
                  <a:tcPr>
                    <a:solidFill>
                      <a:srgbClr val="16283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>
                          <a:solidFill>
                            <a:srgbClr val="FFFFFF"/>
                          </a:solidFill>
                        </a:rPr>
                        <a:t>Pinned, reproducible env via uv.lock</a:t>
                      </a:r>
                    </a:p>
                  </a:txBody>
                  <a:tcPr>
                    <a:solidFill>
                      <a:srgbClr val="16283A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r>
                        <a:rPr sz="1300">
                          <a:solidFill>
                            <a:srgbClr val="FFFFFF"/>
                          </a:solidFill>
                        </a:rPr>
                        <a:t>DB schema</a:t>
                      </a:r>
                    </a:p>
                  </a:txBody>
                  <a:tcPr>
                    <a:solidFill>
                      <a:srgbClr val="1E2F4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>
                          <a:solidFill>
                            <a:srgbClr val="FFFFFF"/>
                          </a:solidFill>
                        </a:rPr>
                        <a:t>Alembic</a:t>
                      </a:r>
                    </a:p>
                  </a:txBody>
                  <a:tcPr>
                    <a:solidFill>
                      <a:srgbClr val="1E2F4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>
                          <a:solidFill>
                            <a:srgbClr val="FFFFFF"/>
                          </a:solidFill>
                        </a:rPr>
                        <a:t>Migration-based, version-controlled schema</a:t>
                      </a:r>
                    </a:p>
                  </a:txBody>
                  <a:tcPr>
                    <a:solidFill>
                      <a:srgbClr val="1E2F40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r>
                        <a:rPr sz="1300">
                          <a:solidFill>
                            <a:srgbClr val="FFFFFF"/>
                          </a:solidFill>
                        </a:rPr>
                        <a:t>Release</a:t>
                      </a:r>
                    </a:p>
                  </a:txBody>
                  <a:tcPr>
                    <a:solidFill>
                      <a:srgbClr val="16283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>
                          <a:solidFill>
                            <a:srgbClr val="FFFFFF"/>
                          </a:solidFill>
                        </a:rPr>
                        <a:t>SemVer</a:t>
                      </a:r>
                    </a:p>
                  </a:txBody>
                  <a:tcPr>
                    <a:solidFill>
                      <a:srgbClr val="16283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>
                          <a:solidFill>
                            <a:srgbClr val="FFFFFF"/>
                          </a:solidFill>
                        </a:rPr>
                        <a:t>MAJOR.MINOR.PATCH tagged on main after CI</a:t>
                      </a:r>
                    </a:p>
                  </a:txBody>
                  <a:tcPr>
                    <a:solidFill>
                      <a:srgbClr val="16283A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457200" y="5349240"/>
            <a:ext cx="112471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 i="0">
                <a:solidFill>
                  <a:srgbClr val="00B4D8"/>
                </a:solidFill>
              </a:rPr>
              <a:t>All standards enforced in CI — a PR that fails ruff or mypy cannot merge.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D1B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164592"/>
            <a:ext cx="114300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 i="0">
                <a:solidFill>
                  <a:srgbClr val="00B4D8"/>
                </a:solidFill>
              </a:rPr>
              <a:t>CI/CD Pipeline  —  Zane's Contribution</a:t>
            </a:r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88952" cy="45720"/>
          </a:xfrm>
          <a:prstGeom prst="rect">
            <a:avLst/>
          </a:prstGeom>
          <a:solidFill>
            <a:srgbClr val="00B4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274320" y="1234440"/>
            <a:ext cx="11612880" cy="5166360"/>
          </a:xfrm>
          <a:prstGeom prst="rect">
            <a:avLst/>
          </a:prstGeom>
          <a:solidFill>
            <a:srgbClr val="102436"/>
          </a:solidFill>
          <a:ln w="12700">
            <a:solidFill>
              <a:srgbClr val="00B4D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02920" y="1307592"/>
            <a:ext cx="11155680" cy="50017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250">
                <a:solidFill>
                  <a:srgbClr val="A8D8EA"/>
                </a:solidFill>
                <a:latin typeface="Courier New"/>
              </a:rPr>
              <a:t># .github/workflows/ci.yml  (runs on every PR to main)</a:t>
            </a:r>
          </a:p>
          <a:p>
            <a:r>
              <a:rPr sz="1250">
                <a:solidFill>
                  <a:srgbClr val="A8D8EA"/>
                </a:solidFill>
                <a:latin typeface="Courier New"/>
              </a:rPr>
              <a:t>jobs:</a:t>
            </a:r>
          </a:p>
          <a:p>
            <a:r>
              <a:rPr sz="1250">
                <a:solidFill>
                  <a:srgbClr val="A8D8EA"/>
                </a:solidFill>
                <a:latin typeface="Courier New"/>
              </a:rPr>
              <a:t>  backend-lint:       # ruff check + ruff format --check</a:t>
            </a:r>
          </a:p>
          <a:p>
            <a:r>
              <a:rPr sz="1250">
                <a:solidFill>
                  <a:srgbClr val="A8D8EA"/>
                </a:solidFill>
                <a:latin typeface="Courier New"/>
              </a:rPr>
              <a:t>  backend-typecheck:  # mypy app</a:t>
            </a:r>
          </a:p>
          <a:p>
            <a:r>
              <a:rPr sz="1250">
                <a:solidFill>
                  <a:srgbClr val="A8D8EA"/>
                </a:solidFill>
                <a:latin typeface="Courier New"/>
              </a:rPr>
              <a:t>  backend-test:</a:t>
            </a:r>
          </a:p>
          <a:p>
            <a:r>
              <a:rPr sz="1250">
                <a:solidFill>
                  <a:srgbClr val="A8D8EA"/>
                </a:solidFill>
                <a:latin typeface="Courier New"/>
              </a:rPr>
              <a:t>    services:</a:t>
            </a:r>
          </a:p>
          <a:p>
            <a:r>
              <a:rPr sz="1250">
                <a:solidFill>
                  <a:srgbClr val="A8D8EA"/>
                </a:solidFill>
                <a:latin typeface="Courier New"/>
              </a:rPr>
              <a:t>      postgres:</a:t>
            </a:r>
          </a:p>
          <a:p>
            <a:r>
              <a:rPr sz="1250">
                <a:solidFill>
                  <a:srgbClr val="A8D8EA"/>
                </a:solidFill>
                <a:latin typeface="Courier New"/>
              </a:rPr>
              <a:t>        image: postgres:16          # real DB in CI -- no mocks</a:t>
            </a:r>
          </a:p>
          <a:p>
            <a:r>
              <a:rPr sz="1250">
                <a:solidFill>
                  <a:srgbClr val="A8D8EA"/>
                </a:solidFill>
                <a:latin typeface="Courier New"/>
              </a:rPr>
              <a:t>        options: --health-cmd 'pg_isready -U postgres'</a:t>
            </a:r>
          </a:p>
          <a:p>
            <a:r>
              <a:rPr sz="1250">
                <a:solidFill>
                  <a:srgbClr val="A8D8EA"/>
                </a:solidFill>
                <a:latin typeface="Courier New"/>
              </a:rPr>
              <a:t>    steps:</a:t>
            </a:r>
          </a:p>
          <a:p>
            <a:r>
              <a:rPr sz="1250">
                <a:solidFill>
                  <a:srgbClr val="A8D8EA"/>
                </a:solidFill>
                <a:latin typeface="Courier New"/>
              </a:rPr>
              <a:t>      - run: uv sync --frozen</a:t>
            </a:r>
          </a:p>
          <a:p>
            <a:r>
              <a:rPr sz="1250">
                <a:solidFill>
                  <a:srgbClr val="A8D8EA"/>
                </a:solidFill>
                <a:latin typeface="Courier New"/>
              </a:rPr>
              <a:t>      - run: uv run alembic upgrade head   # real migrations before tests</a:t>
            </a:r>
          </a:p>
          <a:p>
            <a:r>
              <a:rPr sz="1250">
                <a:solidFill>
                  <a:srgbClr val="A8D8EA"/>
                </a:solidFill>
                <a:latin typeface="Courier New"/>
              </a:rPr>
              <a:t>      - run: uv run pytest tests/ -v</a:t>
            </a:r>
          </a:p>
          <a:p>
            <a:r>
              <a:rPr sz="1250">
                <a:solidFill>
                  <a:srgbClr val="A8D8EA"/>
                </a:solidFill>
                <a:latin typeface="Courier New"/>
              </a:rPr>
              <a:t>  frontend-lint:      # Biome check</a:t>
            </a:r>
          </a:p>
          <a:p>
            <a:r>
              <a:rPr sz="1250">
                <a:solidFill>
                  <a:srgbClr val="A8D8EA"/>
                </a:solidFill>
                <a:latin typeface="Courier New"/>
              </a:rPr>
              <a:t>  frontend-build:     # bun run build</a:t>
            </a:r>
          </a:p>
          <a:p>
            <a:r>
              <a:rPr sz="1250">
                <a:solidFill>
                  <a:srgbClr val="A8D8EA"/>
                </a:solidFill>
                <a:latin typeface="Courier New"/>
              </a:rPr>
              <a:t/>
            </a:r>
          </a:p>
          <a:p>
            <a:r>
              <a:rPr sz="1250">
                <a:solidFill>
                  <a:srgbClr val="A8D8EA"/>
                </a:solidFill>
                <a:latin typeface="Courier New"/>
              </a:rPr>
              <a:t># All five jobs must pass before a PR can merge.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D1B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164592"/>
            <a:ext cx="114300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 i="0">
                <a:solidFill>
                  <a:srgbClr val="00B4D8"/>
                </a:solidFill>
              </a:rPr>
              <a:t>Planning Overview — Agile Scrum, Two-Week Sprints</a:t>
            </a:r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88952" cy="45720"/>
          </a:xfrm>
          <a:prstGeom prst="rect">
            <a:avLst/>
          </a:prstGeom>
          <a:solidFill>
            <a:srgbClr val="00B4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457200" y="1234440"/>
          <a:ext cx="11247120" cy="230428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749040"/>
                <a:gridCol w="3749040"/>
                <a:gridCol w="3749040"/>
              </a:tblGrid>
              <a:tr h="384048">
                <a:tc>
                  <a:txBody>
                    <a:bodyPr/>
                    <a:lstStyle/>
                    <a:p>
                      <a:r>
                        <a:rPr sz="1400" b="1">
                          <a:solidFill>
                            <a:srgbClr val="0D1B2A"/>
                          </a:solidFill>
                        </a:rPr>
                        <a:t>Milestone</a:t>
                      </a:r>
                    </a:p>
                  </a:txBody>
                  <a:tcPr>
                    <a:solidFill>
                      <a:srgbClr val="00B4D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1">
                          <a:solidFill>
                            <a:srgbClr val="0D1B2A"/>
                          </a:solidFill>
                        </a:rPr>
                        <a:t>Target</a:t>
                      </a:r>
                    </a:p>
                  </a:txBody>
                  <a:tcPr>
                    <a:solidFill>
                      <a:srgbClr val="00B4D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1">
                          <a:solidFill>
                            <a:srgbClr val="0D1B2A"/>
                          </a:solidFill>
                        </a:rPr>
                        <a:t>Deliverable</a:t>
                      </a:r>
                    </a:p>
                  </a:txBody>
                  <a:tcPr>
                    <a:solidFill>
                      <a:srgbClr val="00B4D8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r>
                        <a:rPr sz="1300">
                          <a:solidFill>
                            <a:srgbClr val="FFFFFF"/>
                          </a:solidFill>
                        </a:rPr>
                        <a:t>M1 Architecture</a:t>
                      </a:r>
                    </a:p>
                  </a:txBody>
                  <a:tcPr>
                    <a:solidFill>
                      <a:srgbClr val="1E2F4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>
                          <a:solidFill>
                            <a:srgbClr val="FFFFFF"/>
                          </a:solidFill>
                        </a:rPr>
                        <a:t>Week 2</a:t>
                      </a:r>
                    </a:p>
                  </a:txBody>
                  <a:tcPr>
                    <a:solidFill>
                      <a:srgbClr val="1E2F4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>
                          <a:solidFill>
                            <a:srgbClr val="FFFFFF"/>
                          </a:solidFill>
                        </a:rPr>
                        <a:t>DB schema, Dockerfiles, UML</a:t>
                      </a:r>
                    </a:p>
                  </a:txBody>
                  <a:tcPr>
                    <a:solidFill>
                      <a:srgbClr val="1E2F40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r>
                        <a:rPr sz="1300">
                          <a:solidFill>
                            <a:srgbClr val="FFFFFF"/>
                          </a:solidFill>
                        </a:rPr>
                        <a:t>M2 Backend Beta</a:t>
                      </a:r>
                    </a:p>
                  </a:txBody>
                  <a:tcPr>
                    <a:solidFill>
                      <a:srgbClr val="16283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>
                          <a:solidFill>
                            <a:srgbClr val="FFFFFF"/>
                          </a:solidFill>
                        </a:rPr>
                        <a:t>Week 4</a:t>
                      </a:r>
                    </a:p>
                  </a:txBody>
                  <a:tcPr>
                    <a:solidFill>
                      <a:srgbClr val="16283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>
                          <a:solidFill>
                            <a:srgbClr val="FFFFFF"/>
                          </a:solidFill>
                        </a:rPr>
                        <a:t>API predicting mock data, Swagger active</a:t>
                      </a:r>
                    </a:p>
                  </a:txBody>
                  <a:tcPr>
                    <a:solidFill>
                      <a:srgbClr val="16283A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r>
                        <a:rPr sz="1300">
                          <a:solidFill>
                            <a:srgbClr val="FFFFFF"/>
                          </a:solidFill>
                        </a:rPr>
                        <a:t>M3 Frontend Alpha</a:t>
                      </a:r>
                    </a:p>
                  </a:txBody>
                  <a:tcPr>
                    <a:solidFill>
                      <a:srgbClr val="1E2F4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>
                          <a:solidFill>
                            <a:srgbClr val="FFFFFF"/>
                          </a:solidFill>
                        </a:rPr>
                        <a:t>Week 6</a:t>
                      </a:r>
                    </a:p>
                  </a:txBody>
                  <a:tcPr>
                    <a:solidFill>
                      <a:srgbClr val="1E2F4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>
                          <a:solidFill>
                            <a:srgbClr val="FFFFFF"/>
                          </a:solidFill>
                        </a:rPr>
                        <a:t>MVP dashboard rendering predictions</a:t>
                      </a:r>
                    </a:p>
                  </a:txBody>
                  <a:tcPr>
                    <a:solidFill>
                      <a:srgbClr val="1E2F40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r>
                        <a:rPr sz="1300">
                          <a:solidFill>
                            <a:srgbClr val="FFFFFF"/>
                          </a:solidFill>
                        </a:rPr>
                        <a:t>M4 Production Ready</a:t>
                      </a:r>
                    </a:p>
                  </a:txBody>
                  <a:tcPr>
                    <a:solidFill>
                      <a:srgbClr val="16283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>
                          <a:solidFill>
                            <a:srgbClr val="FFFFFF"/>
                          </a:solidFill>
                        </a:rPr>
                        <a:t>Week 8</a:t>
                      </a:r>
                    </a:p>
                  </a:txBody>
                  <a:tcPr>
                    <a:solidFill>
                      <a:srgbClr val="16283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>
                          <a:solidFill>
                            <a:srgbClr val="FFFFFF"/>
                          </a:solidFill>
                        </a:rPr>
                        <a:t>Tests &gt;80%, all bugs patched</a:t>
                      </a:r>
                    </a:p>
                  </a:txBody>
                  <a:tcPr>
                    <a:solidFill>
                      <a:srgbClr val="16283A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r>
                        <a:rPr sz="1300">
                          <a:solidFill>
                            <a:srgbClr val="FFFFFF"/>
                          </a:solidFill>
                        </a:rPr>
                        <a:t>M5 Final Delivery</a:t>
                      </a:r>
                    </a:p>
                  </a:txBody>
                  <a:tcPr>
                    <a:solidFill>
                      <a:srgbClr val="1E2F4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>
                          <a:solidFill>
                            <a:srgbClr val="FFFFFF"/>
                          </a:solidFill>
                        </a:rPr>
                        <a:t>Week 10</a:t>
                      </a:r>
                    </a:p>
                  </a:txBody>
                  <a:tcPr>
                    <a:solidFill>
                      <a:srgbClr val="1E2F4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>
                          <a:solidFill>
                            <a:srgbClr val="FFFFFF"/>
                          </a:solidFill>
                        </a:rPr>
                        <a:t>Documentation, demo, presentation</a:t>
                      </a:r>
                    </a:p>
                  </a:txBody>
                  <a:tcPr>
                    <a:solidFill>
                      <a:srgbClr val="1E2F40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457200" y="4206240"/>
            <a:ext cx="11247120" cy="5212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500">
                <a:solidFill>
                  <a:srgbClr val="FFFFFF"/>
                </a:solidFill>
              </a:rPr>
              <a:t>• Epic 1 — Infrastructure (Git, CI, Docker, Alembic)  — mainly Zane</a:t>
            </a:r>
          </a:p>
          <a:p>
            <a:r>
              <a:rPr sz="1500">
                <a:solidFill>
                  <a:srgbClr val="FFFFFF"/>
                </a:solidFill>
              </a:rPr>
              <a:t>• Epic 2 — Core backend (polling, features, XGBoost, REST API)</a:t>
            </a:r>
          </a:p>
          <a:p>
            <a:r>
              <a:rPr sz="1500">
                <a:solidFill>
                  <a:srgbClr val="FFFFFF"/>
                </a:solidFill>
              </a:rPr>
              <a:t>• Epic 3 — Visualization (React, charts, symbol selection)</a:t>
            </a:r>
          </a:p>
          <a:p>
            <a:r>
              <a:rPr sz="1500">
                <a:solidFill>
                  <a:srgbClr val="FFFFFF"/>
                </a:solidFill>
              </a:rPr>
              <a:t>• Epic 4 — QA and finalization (coverage, docs, deployment)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D1B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164592"/>
            <a:ext cx="114300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 i="0">
                <a:solidFill>
                  <a:srgbClr val="00B4D8"/>
                </a:solidFill>
              </a:rPr>
              <a:t>Workload — Sprint 3 + Full Project</a:t>
            </a:r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88952" cy="45720"/>
          </a:xfrm>
          <a:prstGeom prst="rect">
            <a:avLst/>
          </a:prstGeom>
          <a:solidFill>
            <a:srgbClr val="00B4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457200" y="1234440"/>
          <a:ext cx="11247120" cy="268833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811780"/>
                <a:gridCol w="2811780"/>
                <a:gridCol w="2811780"/>
                <a:gridCol w="2811780"/>
              </a:tblGrid>
              <a:tr h="384048">
                <a:tc>
                  <a:txBody>
                    <a:bodyPr/>
                    <a:lstStyle/>
                    <a:p>
                      <a:r>
                        <a:rPr sz="1400" b="1">
                          <a:solidFill>
                            <a:srgbClr val="0D1B2A"/>
                          </a:solidFill>
                        </a:rPr>
                        <a:t>Team Member</a:t>
                      </a:r>
                    </a:p>
                  </a:txBody>
                  <a:tcPr>
                    <a:solidFill>
                      <a:srgbClr val="00B4D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1">
                          <a:solidFill>
                            <a:srgbClr val="0D1B2A"/>
                          </a:solidFill>
                        </a:rPr>
                        <a:t>Focus</a:t>
                      </a:r>
                    </a:p>
                  </a:txBody>
                  <a:tcPr>
                    <a:solidFill>
                      <a:srgbClr val="00B4D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1">
                          <a:solidFill>
                            <a:srgbClr val="0D1B2A"/>
                          </a:solidFill>
                        </a:rPr>
                        <a:t>Sprint 3</a:t>
                      </a:r>
                    </a:p>
                  </a:txBody>
                  <a:tcPr>
                    <a:solidFill>
                      <a:srgbClr val="00B4D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1">
                          <a:solidFill>
                            <a:srgbClr val="0D1B2A"/>
                          </a:solidFill>
                        </a:rPr>
                        <a:t>Total Project</a:t>
                      </a:r>
                    </a:p>
                  </a:txBody>
                  <a:tcPr>
                    <a:solidFill>
                      <a:srgbClr val="00B4D8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r>
                        <a:rPr sz="1300">
                          <a:solidFill>
                            <a:srgbClr val="FFFFFF"/>
                          </a:solidFill>
                        </a:rPr>
                        <a:t>Harsh Kumar</a:t>
                      </a:r>
                    </a:p>
                  </a:txBody>
                  <a:tcPr>
                    <a:solidFill>
                      <a:srgbClr val="1E2F4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>
                          <a:solidFill>
                            <a:srgbClr val="FFFFFF"/>
                          </a:solidFill>
                        </a:rPr>
                        <a:t>API core, ML integration</a:t>
                      </a:r>
                    </a:p>
                  </a:txBody>
                  <a:tcPr>
                    <a:solidFill>
                      <a:srgbClr val="1E2F4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>
                          <a:solidFill>
                            <a:srgbClr val="FFFFFF"/>
                          </a:solidFill>
                        </a:rPr>
                        <a:t>38 h</a:t>
                      </a:r>
                    </a:p>
                  </a:txBody>
                  <a:tcPr>
                    <a:solidFill>
                      <a:srgbClr val="1E2F4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>
                          <a:solidFill>
                            <a:srgbClr val="FFFFFF"/>
                          </a:solidFill>
                        </a:rPr>
                        <a:t>38 h</a:t>
                      </a:r>
                    </a:p>
                  </a:txBody>
                  <a:tcPr>
                    <a:solidFill>
                      <a:srgbClr val="1E2F40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r>
                        <a:rPr sz="1300">
                          <a:solidFill>
                            <a:srgbClr val="FFFFFF"/>
                          </a:solidFill>
                        </a:rPr>
                        <a:t>Parag Jindal</a:t>
                      </a:r>
                    </a:p>
                  </a:txBody>
                  <a:tcPr>
                    <a:solidFill>
                      <a:srgbClr val="16283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>
                          <a:solidFill>
                            <a:srgbClr val="FFFFFF"/>
                          </a:solidFill>
                        </a:rPr>
                        <a:t>API endpoints, schemas</a:t>
                      </a:r>
                    </a:p>
                  </a:txBody>
                  <a:tcPr>
                    <a:solidFill>
                      <a:srgbClr val="16283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>
                          <a:solidFill>
                            <a:srgbClr val="FFFFFF"/>
                          </a:solidFill>
                        </a:rPr>
                        <a:t>30 h</a:t>
                      </a:r>
                    </a:p>
                  </a:txBody>
                  <a:tcPr>
                    <a:solidFill>
                      <a:srgbClr val="16283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>
                          <a:solidFill>
                            <a:srgbClr val="FFFFFF"/>
                          </a:solidFill>
                        </a:rPr>
                        <a:t>30 h</a:t>
                      </a:r>
                    </a:p>
                  </a:txBody>
                  <a:tcPr>
                    <a:solidFill>
                      <a:srgbClr val="16283A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r>
                        <a:rPr sz="1300">
                          <a:solidFill>
                            <a:srgbClr val="FFFFFF"/>
                          </a:solidFill>
                        </a:rPr>
                        <a:t>KavalS</a:t>
                      </a:r>
                    </a:p>
                  </a:txBody>
                  <a:tcPr>
                    <a:solidFill>
                      <a:srgbClr val="1E2F4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>
                          <a:solidFill>
                            <a:srgbClr val="FFFFFF"/>
                          </a:solidFill>
                        </a:rPr>
                        <a:t>React architecture, hooks</a:t>
                      </a:r>
                    </a:p>
                  </a:txBody>
                  <a:tcPr>
                    <a:solidFill>
                      <a:srgbClr val="1E2F4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>
                          <a:solidFill>
                            <a:srgbClr val="FFFFFF"/>
                          </a:solidFill>
                        </a:rPr>
                        <a:t>35 h</a:t>
                      </a:r>
                    </a:p>
                  </a:txBody>
                  <a:tcPr>
                    <a:solidFill>
                      <a:srgbClr val="1E2F4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>
                          <a:solidFill>
                            <a:srgbClr val="FFFFFF"/>
                          </a:solidFill>
                        </a:rPr>
                        <a:t>35 h</a:t>
                      </a:r>
                    </a:p>
                  </a:txBody>
                  <a:tcPr>
                    <a:solidFill>
                      <a:srgbClr val="1E2F40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r>
                        <a:rPr sz="1300">
                          <a:solidFill>
                            <a:srgbClr val="FFFFFF"/>
                          </a:solidFill>
                        </a:rPr>
                        <a:t>Guntash</a:t>
                      </a:r>
                    </a:p>
                  </a:txBody>
                  <a:tcPr>
                    <a:solidFill>
                      <a:srgbClr val="16283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>
                          <a:solidFill>
                            <a:srgbClr val="FFFFFF"/>
                          </a:solidFill>
                        </a:rPr>
                        <a:t>Components, charts</a:t>
                      </a:r>
                    </a:p>
                  </a:txBody>
                  <a:tcPr>
                    <a:solidFill>
                      <a:srgbClr val="16283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>
                          <a:solidFill>
                            <a:srgbClr val="FFFFFF"/>
                          </a:solidFill>
                        </a:rPr>
                        <a:t>28 h</a:t>
                      </a:r>
                    </a:p>
                  </a:txBody>
                  <a:tcPr>
                    <a:solidFill>
                      <a:srgbClr val="16283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>
                          <a:solidFill>
                            <a:srgbClr val="FFFFFF"/>
                          </a:solidFill>
                        </a:rPr>
                        <a:t>28 h</a:t>
                      </a:r>
                    </a:p>
                  </a:txBody>
                  <a:tcPr>
                    <a:solidFill>
                      <a:srgbClr val="16283A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r>
                        <a:rPr sz="1300">
                          <a:solidFill>
                            <a:srgbClr val="FFFFFF"/>
                          </a:solidFill>
                        </a:rPr>
                        <a:t>Zane (Foochini)</a:t>
                      </a:r>
                    </a:p>
                  </a:txBody>
                  <a:tcPr>
                    <a:solidFill>
                      <a:srgbClr val="1E2F4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>
                          <a:solidFill>
                            <a:srgbClr val="FFFFFF"/>
                          </a:solidFill>
                        </a:rPr>
                        <a:t>DevOps, tests, docs</a:t>
                      </a:r>
                    </a:p>
                  </a:txBody>
                  <a:tcPr>
                    <a:solidFill>
                      <a:srgbClr val="1E2F4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>
                          <a:solidFill>
                            <a:srgbClr val="FFFFFF"/>
                          </a:solidFill>
                        </a:rPr>
                        <a:t>34 h</a:t>
                      </a:r>
                    </a:p>
                  </a:txBody>
                  <a:tcPr>
                    <a:solidFill>
                      <a:srgbClr val="1E2F4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>
                          <a:solidFill>
                            <a:srgbClr val="FFFFFF"/>
                          </a:solidFill>
                        </a:rPr>
                        <a:t>34 h</a:t>
                      </a:r>
                    </a:p>
                  </a:txBody>
                  <a:tcPr>
                    <a:solidFill>
                      <a:srgbClr val="1E2F40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r>
                        <a:rPr sz="1300">
                          <a:solidFill>
                            <a:srgbClr val="FFFFFF"/>
                          </a:solidFill>
                        </a:rPr>
                        <a:t>TOTAL</a:t>
                      </a:r>
                    </a:p>
                  </a:txBody>
                  <a:tcPr>
                    <a:solidFill>
                      <a:srgbClr val="16283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>
                          <a:solidFill>
                            <a:srgbClr val="FFFFFF"/>
                          </a:solidFill>
                        </a:rPr>
                        <a:t/>
                      </a:r>
                    </a:p>
                  </a:txBody>
                  <a:tcPr>
                    <a:solidFill>
                      <a:srgbClr val="16283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>
                          <a:solidFill>
                            <a:srgbClr val="FFFFFF"/>
                          </a:solidFill>
                        </a:rPr>
                        <a:t>165 h</a:t>
                      </a:r>
                    </a:p>
                  </a:txBody>
                  <a:tcPr>
                    <a:solidFill>
                      <a:srgbClr val="16283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>
                          <a:solidFill>
                            <a:srgbClr val="FFFFFF"/>
                          </a:solidFill>
                        </a:rPr>
                        <a:t>165 h</a:t>
                      </a:r>
                    </a:p>
                  </a:txBody>
                  <a:tcPr>
                    <a:solidFill>
                      <a:srgbClr val="16283A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457200" y="5376672"/>
            <a:ext cx="112471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 i="0">
                <a:solidFill>
                  <a:srgbClr val="00B4D8"/>
                </a:solidFill>
              </a:rPr>
              <a:t>pytest coverage achieved: ~81%   (target &gt;=80%  checkmark)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D1B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164592"/>
            <a:ext cx="114300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 i="0">
                <a:solidFill>
                  <a:srgbClr val="00B4D8"/>
                </a:solidFill>
              </a:rPr>
              <a:t>Lessons Learned</a:t>
            </a:r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88952" cy="45720"/>
          </a:xfrm>
          <a:prstGeom prst="rect">
            <a:avLst/>
          </a:prstGeom>
          <a:solidFill>
            <a:srgbClr val="00B4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457200" y="1234440"/>
          <a:ext cx="11201400" cy="230428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733800"/>
                <a:gridCol w="3733800"/>
                <a:gridCol w="3733800"/>
              </a:tblGrid>
              <a:tr h="384048"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0D1B2A"/>
                          </a:solidFill>
                        </a:rPr>
                        <a:t>What Went Wrong</a:t>
                      </a:r>
                    </a:p>
                  </a:txBody>
                  <a:tcPr>
                    <a:solidFill>
                      <a:srgbClr val="00B4D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0D1B2A"/>
                          </a:solidFill>
                        </a:rPr>
                        <a:t>Root Cause</a:t>
                      </a:r>
                    </a:p>
                  </a:txBody>
                  <a:tcPr>
                    <a:solidFill>
                      <a:srgbClr val="00B4D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0D1B2A"/>
                          </a:solidFill>
                        </a:rPr>
                        <a:t>Fix</a:t>
                      </a:r>
                    </a:p>
                  </a:txBody>
                  <a:tcPr>
                    <a:solidFill>
                      <a:srgbClr val="00B4D8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FFFFFF"/>
                          </a:solidFill>
                        </a:rPr>
                        <a:t>pip desync day 1 (Windows vs Linux)</a:t>
                      </a:r>
                    </a:p>
                  </a:txBody>
                  <a:tcPr>
                    <a:solidFill>
                      <a:srgbClr val="1E2F4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FFFFFF"/>
                          </a:solidFill>
                        </a:rPr>
                        <a:t>No lockfile, OS-specific deps</a:t>
                      </a:r>
                    </a:p>
                  </a:txBody>
                  <a:tcPr>
                    <a:solidFill>
                      <a:srgbClr val="1E2F4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FFFFFF"/>
                          </a:solidFill>
                        </a:rPr>
                        <a:t>Migrated to uv + Docker  —  2-day setback that saved weeks</a:t>
                      </a:r>
                    </a:p>
                  </a:txBody>
                  <a:tcPr>
                    <a:solidFill>
                      <a:srgbClr val="1E2F40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FFFFFF"/>
                          </a:solidFill>
                        </a:rPr>
                        <a:t>API latency 800 ms  (ISSUE-11)</a:t>
                      </a:r>
                    </a:p>
                  </a:txBody>
                  <a:tcPr>
                    <a:solidFill>
                      <a:srgbClr val="16283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FFFFFF"/>
                          </a:solidFill>
                        </a:rPr>
                        <a:t>Synchronous SQLAlchemy blocking loop</a:t>
                      </a:r>
                    </a:p>
                  </a:txBody>
                  <a:tcPr>
                    <a:solidFill>
                      <a:srgbClr val="16283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FFFFFF"/>
                          </a:solidFill>
                        </a:rPr>
                        <a:t>Async refactor  -&gt;  &lt;100 ms</a:t>
                      </a:r>
                    </a:p>
                  </a:txBody>
                  <a:tcPr>
                    <a:solidFill>
                      <a:srgbClr val="16283A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FFFFFF"/>
                          </a:solidFill>
                        </a:rPr>
                        <a:t>Schema drift between envs  (ISSUE-14 - Zane)</a:t>
                      </a:r>
                    </a:p>
                  </a:txBody>
                  <a:tcPr>
                    <a:solidFill>
                      <a:srgbClr val="1E2F4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FFFFFF"/>
                          </a:solidFill>
                        </a:rPr>
                        <a:t>Alembic history diverged</a:t>
                      </a:r>
                    </a:p>
                  </a:txBody>
                  <a:tcPr>
                    <a:solidFill>
                      <a:srgbClr val="1E2F4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FFFFFF"/>
                          </a:solidFill>
                        </a:rPr>
                        <a:t>Re-init + locked to uv</a:t>
                      </a:r>
                    </a:p>
                  </a:txBody>
                  <a:tcPr>
                    <a:solidFill>
                      <a:srgbClr val="1E2F40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FFFFFF"/>
                          </a:solidFill>
                        </a:rPr>
                        <a:t>React chart re-renders  (ISSUE-18)</a:t>
                      </a:r>
                    </a:p>
                  </a:txBody>
                  <a:tcPr>
                    <a:solidFill>
                      <a:srgbClr val="16283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FFFFFF"/>
                          </a:solidFill>
                        </a:rPr>
                        <a:t>Runaway TanStack Query keys</a:t>
                      </a:r>
                    </a:p>
                  </a:txBody>
                  <a:tcPr>
                    <a:solidFill>
                      <a:srgbClr val="16283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FFFFFF"/>
                          </a:solidFill>
                        </a:rPr>
                        <a:t>Debouncing + dependent query keys</a:t>
                      </a:r>
                    </a:p>
                  </a:txBody>
                  <a:tcPr>
                    <a:solidFill>
                      <a:srgbClr val="16283A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FFFFFF"/>
                          </a:solidFill>
                        </a:rPr>
                        <a:t>WebSocket unstable  (ISSUE-22)</a:t>
                      </a:r>
                    </a:p>
                  </a:txBody>
                  <a:tcPr>
                    <a:solidFill>
                      <a:srgbClr val="1E2F4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FFFFFF"/>
                          </a:solidFill>
                        </a:rPr>
                        <a:t>Async complexity underestimated</a:t>
                      </a:r>
                    </a:p>
                  </a:txBody>
                  <a:tcPr>
                    <a:solidFill>
                      <a:srgbClr val="1E2F4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FFFFFF"/>
                          </a:solidFill>
                        </a:rPr>
                        <a:t>Deferred to v1.1; REST-first was correct</a:t>
                      </a:r>
                    </a:p>
                  </a:txBody>
                  <a:tcPr>
                    <a:solidFill>
                      <a:srgbClr val="1E2F40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D1B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164592"/>
            <a:ext cx="114300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 i="0">
                <a:solidFill>
                  <a:srgbClr val="00B4D8"/>
                </a:solidFill>
              </a:rPr>
              <a:t>Risk Management</a:t>
            </a:r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88952" cy="45720"/>
          </a:xfrm>
          <a:prstGeom prst="rect">
            <a:avLst/>
          </a:prstGeom>
          <a:solidFill>
            <a:srgbClr val="00B4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457200" y="1234440"/>
          <a:ext cx="11430000" cy="268833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05000"/>
                <a:gridCol w="1905000"/>
                <a:gridCol w="1905000"/>
                <a:gridCol w="1905000"/>
                <a:gridCol w="1905000"/>
                <a:gridCol w="1905000"/>
              </a:tblGrid>
              <a:tr h="384048"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0D1B2A"/>
                          </a:solidFill>
                        </a:rPr>
                        <a:t>ID</a:t>
                      </a:r>
                    </a:p>
                  </a:txBody>
                  <a:tcPr>
                    <a:solidFill>
                      <a:srgbClr val="00B4D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0D1B2A"/>
                          </a:solidFill>
                        </a:rPr>
                        <a:t>Risk</a:t>
                      </a:r>
                    </a:p>
                  </a:txBody>
                  <a:tcPr>
                    <a:solidFill>
                      <a:srgbClr val="00B4D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0D1B2A"/>
                          </a:solidFill>
                        </a:rPr>
                        <a:t>P</a:t>
                      </a:r>
                    </a:p>
                  </a:txBody>
                  <a:tcPr>
                    <a:solidFill>
                      <a:srgbClr val="00B4D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0D1B2A"/>
                          </a:solidFill>
                        </a:rPr>
                        <a:t>I</a:t>
                      </a:r>
                    </a:p>
                  </a:txBody>
                  <a:tcPr>
                    <a:solidFill>
                      <a:srgbClr val="00B4D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0D1B2A"/>
                          </a:solidFill>
                        </a:rPr>
                        <a:t>Mitigation</a:t>
                      </a:r>
                    </a:p>
                  </a:txBody>
                  <a:tcPr>
                    <a:solidFill>
                      <a:srgbClr val="00B4D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0D1B2A"/>
                          </a:solidFill>
                        </a:rPr>
                        <a:t>Status</a:t>
                      </a:r>
                    </a:p>
                  </a:txBody>
                  <a:tcPr>
                    <a:solidFill>
                      <a:srgbClr val="00B4D8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FFFFFF"/>
                          </a:solidFill>
                        </a:rPr>
                        <a:t>RSK-01</a:t>
                      </a:r>
                    </a:p>
                  </a:txBody>
                  <a:tcPr>
                    <a:solidFill>
                      <a:srgbClr val="1E2F4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FFFFFF"/>
                          </a:solidFill>
                        </a:rPr>
                        <a:t>API rate limits throttle data</a:t>
                      </a:r>
                    </a:p>
                  </a:txBody>
                  <a:tcPr>
                    <a:solidFill>
                      <a:srgbClr val="1E2F4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FFFFFF"/>
                          </a:solidFill>
                        </a:rPr>
                        <a:t>H</a:t>
                      </a:r>
                    </a:p>
                  </a:txBody>
                  <a:tcPr>
                    <a:solidFill>
                      <a:srgbClr val="1E2F4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FFFFFF"/>
                          </a:solidFill>
                        </a:rPr>
                        <a:t>H</a:t>
                      </a:r>
                    </a:p>
                  </a:txBody>
                  <a:tcPr>
                    <a:solidFill>
                      <a:srgbClr val="1E2F4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FFFFFF"/>
                          </a:solidFill>
                        </a:rPr>
                        <a:t>Caching + mock fallback</a:t>
                      </a:r>
                    </a:p>
                  </a:txBody>
                  <a:tcPr>
                    <a:solidFill>
                      <a:srgbClr val="1E2F4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FFFFFF"/>
                          </a:solidFill>
                        </a:rPr>
                        <a:t>Mitigated</a:t>
                      </a:r>
                    </a:p>
                  </a:txBody>
                  <a:tcPr>
                    <a:solidFill>
                      <a:srgbClr val="1E2F40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FFFFFF"/>
                          </a:solidFill>
                        </a:rPr>
                        <a:t>RSK-02</a:t>
                      </a:r>
                    </a:p>
                  </a:txBody>
                  <a:tcPr>
                    <a:solidFill>
                      <a:srgbClr val="16283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FFFFFF"/>
                          </a:solidFill>
                        </a:rPr>
                        <a:t>Model drift over time</a:t>
                      </a:r>
                    </a:p>
                  </a:txBody>
                  <a:tcPr>
                    <a:solidFill>
                      <a:srgbClr val="16283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FFFFFF"/>
                          </a:solidFill>
                        </a:rPr>
                        <a:t>M</a:t>
                      </a:r>
                    </a:p>
                  </a:txBody>
                  <a:tcPr>
                    <a:solidFill>
                      <a:srgbClr val="16283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FFFFFF"/>
                          </a:solidFill>
                        </a:rPr>
                        <a:t>H</a:t>
                      </a:r>
                    </a:p>
                  </a:txBody>
                  <a:tcPr>
                    <a:solidFill>
                      <a:srgbClr val="16283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FFFFFF"/>
                          </a:solidFill>
                        </a:rPr>
                        <a:t>Versioned bundles + retrain pipeline</a:t>
                      </a:r>
                    </a:p>
                  </a:txBody>
                  <a:tcPr>
                    <a:solidFill>
                      <a:srgbClr val="16283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FFFFFF"/>
                          </a:solidFill>
                        </a:rPr>
                        <a:t>Ongoing</a:t>
                      </a:r>
                    </a:p>
                  </a:txBody>
                  <a:tcPr>
                    <a:solidFill>
                      <a:srgbClr val="16283A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FFFFFF"/>
                          </a:solidFill>
                        </a:rPr>
                        <a:t>RSK-03</a:t>
                      </a:r>
                    </a:p>
                  </a:txBody>
                  <a:tcPr>
                    <a:solidFill>
                      <a:srgbClr val="1E2F4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FFFFFF"/>
                          </a:solidFill>
                        </a:rPr>
                        <a:t>Async complexity slips timeline</a:t>
                      </a:r>
                    </a:p>
                  </a:txBody>
                  <a:tcPr>
                    <a:solidFill>
                      <a:srgbClr val="1E2F4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FFFFFF"/>
                          </a:solidFill>
                        </a:rPr>
                        <a:t>M</a:t>
                      </a:r>
                    </a:p>
                  </a:txBody>
                  <a:tcPr>
                    <a:solidFill>
                      <a:srgbClr val="1E2F4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FFFFFF"/>
                          </a:solidFill>
                        </a:rPr>
                        <a:t>M</a:t>
                      </a:r>
                    </a:p>
                  </a:txBody>
                  <a:tcPr>
                    <a:solidFill>
                      <a:srgbClr val="1E2F4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FFFFFF"/>
                          </a:solidFill>
                        </a:rPr>
                        <a:t>REST-first; WebSocket deferred</a:t>
                      </a:r>
                    </a:p>
                  </a:txBody>
                  <a:tcPr>
                    <a:solidFill>
                      <a:srgbClr val="1E2F4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FFFFFF"/>
                          </a:solidFill>
                        </a:rPr>
                        <a:t>Resolved</a:t>
                      </a:r>
                    </a:p>
                  </a:txBody>
                  <a:tcPr>
                    <a:solidFill>
                      <a:srgbClr val="1E2F40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FFFFFF"/>
                          </a:solidFill>
                        </a:rPr>
                        <a:t>RSK-04</a:t>
                      </a:r>
                    </a:p>
                  </a:txBody>
                  <a:tcPr>
                    <a:solidFill>
                      <a:srgbClr val="16283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FFFFFF"/>
                          </a:solidFill>
                        </a:rPr>
                        <a:t>DB overload on high-freq writes</a:t>
                      </a:r>
                    </a:p>
                  </a:txBody>
                  <a:tcPr>
                    <a:solidFill>
                      <a:srgbClr val="16283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FFFFFF"/>
                          </a:solidFill>
                        </a:rPr>
                        <a:t>L</a:t>
                      </a:r>
                    </a:p>
                  </a:txBody>
                  <a:tcPr>
                    <a:solidFill>
                      <a:srgbClr val="16283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FFFFFF"/>
                          </a:solidFill>
                        </a:rPr>
                        <a:t>C</a:t>
                      </a:r>
                    </a:p>
                  </a:txBody>
                  <a:tcPr>
                    <a:solidFill>
                      <a:srgbClr val="16283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FFFFFF"/>
                          </a:solidFill>
                        </a:rPr>
                        <a:t>Indexes; TimescaleDB path (CR-003)</a:t>
                      </a:r>
                    </a:p>
                  </a:txBody>
                  <a:tcPr>
                    <a:solidFill>
                      <a:srgbClr val="16283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FFFFFF"/>
                          </a:solidFill>
                        </a:rPr>
                        <a:t>Mitigated</a:t>
                      </a:r>
                    </a:p>
                  </a:txBody>
                  <a:tcPr>
                    <a:solidFill>
                      <a:srgbClr val="16283A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FFFFFF"/>
                          </a:solidFill>
                        </a:rPr>
                        <a:t>RSK-05</a:t>
                      </a:r>
                    </a:p>
                  </a:txBody>
                  <a:tcPr>
                    <a:solidFill>
                      <a:srgbClr val="1E2F4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FFFFFF"/>
                          </a:solidFill>
                        </a:rPr>
                        <a:t>WebSocket handshake unstable</a:t>
                      </a:r>
                    </a:p>
                  </a:txBody>
                  <a:tcPr>
                    <a:solidFill>
                      <a:srgbClr val="1E2F4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FFFFFF"/>
                          </a:solidFill>
                        </a:rPr>
                        <a:t>M</a:t>
                      </a:r>
                    </a:p>
                  </a:txBody>
                  <a:tcPr>
                    <a:solidFill>
                      <a:srgbClr val="1E2F4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FFFFFF"/>
                          </a:solidFill>
                        </a:rPr>
                        <a:t>M</a:t>
                      </a:r>
                    </a:p>
                  </a:txBody>
                  <a:tcPr>
                    <a:solidFill>
                      <a:srgbClr val="1E2F4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FFFFFF"/>
                          </a:solidFill>
                        </a:rPr>
                        <a:t>Deferred to v1.1</a:t>
                      </a:r>
                    </a:p>
                  </a:txBody>
                  <a:tcPr>
                    <a:solidFill>
                      <a:srgbClr val="1E2F4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FFFFFF"/>
                          </a:solidFill>
                        </a:rPr>
                        <a:t>Open</a:t>
                      </a:r>
                    </a:p>
                  </a:txBody>
                  <a:tcPr>
                    <a:solidFill>
                      <a:srgbClr val="1E2F40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FFFFFF"/>
                          </a:solidFill>
                        </a:rPr>
                        <a:t>RSK-06</a:t>
                      </a:r>
                    </a:p>
                  </a:txBody>
                  <a:tcPr>
                    <a:solidFill>
                      <a:srgbClr val="16283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FFFFFF"/>
                          </a:solidFill>
                        </a:rPr>
                        <a:t>Docker image 2.5 GB (ISSUE-25)</a:t>
                      </a:r>
                    </a:p>
                  </a:txBody>
                  <a:tcPr>
                    <a:solidFill>
                      <a:srgbClr val="16283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FFFFFF"/>
                          </a:solidFill>
                        </a:rPr>
                        <a:t>L</a:t>
                      </a:r>
                    </a:p>
                  </a:txBody>
                  <a:tcPr>
                    <a:solidFill>
                      <a:srgbClr val="16283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FFFFFF"/>
                          </a:solidFill>
                        </a:rPr>
                        <a:t>L</a:t>
                      </a:r>
                    </a:p>
                  </a:txBody>
                  <a:tcPr>
                    <a:solidFill>
                      <a:srgbClr val="16283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FFFFFF"/>
                          </a:solidFill>
                        </a:rPr>
                        <a:t>Multi-stage build planned</a:t>
                      </a:r>
                    </a:p>
                  </a:txBody>
                  <a:tcPr>
                    <a:solidFill>
                      <a:srgbClr val="16283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FFFFFF"/>
                          </a:solidFill>
                        </a:rPr>
                        <a:t>Open</a:t>
                      </a:r>
                    </a:p>
                  </a:txBody>
                  <a:tcPr>
                    <a:solidFill>
                      <a:srgbClr val="16283A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D1B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164592"/>
            <a:ext cx="114300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 i="0">
                <a:solidFill>
                  <a:srgbClr val="00B4D8"/>
                </a:solidFill>
              </a:rPr>
              <a:t>Design — Domain Model and Layer Structure</a:t>
            </a:r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88952" cy="45720"/>
          </a:xfrm>
          <a:prstGeom prst="rect">
            <a:avLst/>
          </a:prstGeom>
          <a:solidFill>
            <a:srgbClr val="00B4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65760" y="1234440"/>
            <a:ext cx="54864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1" i="0">
                <a:solidFill>
                  <a:srgbClr val="00B4D8"/>
                </a:solidFill>
              </a:rPr>
              <a:t>Core Entities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1691640"/>
            <a:ext cx="5486400" cy="4663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500">
                <a:solidFill>
                  <a:srgbClr val="FFFFFF"/>
                </a:solidFill>
              </a:rPr>
              <a:t>• Stock  —  ticker, name, sector, exchange, is_active</a:t>
            </a:r>
          </a:p>
          <a:p>
            <a:r>
              <a:rPr sz="1500">
                <a:solidFill>
                  <a:srgbClr val="FFFFFF"/>
                </a:solidFill>
              </a:rPr>
              <a:t>• DailyPrice / OHLC bars  —  raw price time series</a:t>
            </a:r>
          </a:p>
          <a:p>
            <a:r>
              <a:rPr sz="1500">
                <a:solidFill>
                  <a:srgbClr val="FFFFFF"/>
                </a:solidFill>
              </a:rPr>
              <a:t>• Prediction  —  model output + confidence score</a:t>
            </a:r>
          </a:p>
          <a:p>
            <a:r>
              <a:rPr sz="1500">
                <a:solidFill>
                  <a:srgbClr val="FFFFFF"/>
                </a:solidFill>
              </a:rPr>
              <a:t>• Pydantic v2 schemas</a:t>
            </a:r>
          </a:p>
          <a:p>
            <a:r>
              <a:rPr sz="1300">
                <a:solidFill>
                  <a:srgbClr val="CCD6E0"/>
                </a:solidFill>
              </a:rPr>
              <a:t>    - StockRead, OHLCRead, NextDayPredictionResponse</a:t>
            </a:r>
          </a:p>
        </p:txBody>
      </p:sp>
      <p:sp>
        <p:nvSpPr>
          <p:cNvPr id="6" name="Rectangle 5"/>
          <p:cNvSpPr/>
          <p:nvPr/>
        </p:nvSpPr>
        <p:spPr>
          <a:xfrm>
            <a:off x="6099048" y="1234440"/>
            <a:ext cx="22860" cy="5212080"/>
          </a:xfrm>
          <a:prstGeom prst="rect">
            <a:avLst/>
          </a:prstGeom>
          <a:solidFill>
            <a:srgbClr val="1E2F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263640" y="1234440"/>
            <a:ext cx="54864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1" i="0">
                <a:solidFill>
                  <a:srgbClr val="00B4D8"/>
                </a:solidFill>
              </a:rPr>
              <a:t>Layer Architecture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263640" y="1691640"/>
            <a:ext cx="5486400" cy="4663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500">
                <a:solidFill>
                  <a:srgbClr val="FFFFFF"/>
                </a:solidFill>
              </a:rPr>
              <a:t>• Routers  -&gt;  Services  -&gt;  CRUD  -&gt;  SQLAlchemy  -&gt;  Postgres</a:t>
            </a:r>
          </a:p>
          <a:p>
            <a:r>
              <a:rPr sz="1500">
                <a:solidFill>
                  <a:srgbClr val="FFFFFF"/>
                </a:solidFill>
              </a:rPr>
              <a:t>• Inference specifically:</a:t>
            </a:r>
          </a:p>
          <a:p>
            <a:r>
              <a:rPr sz="1300">
                <a:solidFill>
                  <a:srgbClr val="CCD6E0"/>
                </a:solidFill>
              </a:rPr>
              <a:t>    - InferenceService</a:t>
            </a:r>
          </a:p>
          <a:p>
            <a:r>
              <a:rPr sz="1300">
                <a:solidFill>
                  <a:srgbClr val="CCD6E0"/>
                </a:solidFill>
              </a:rPr>
              <a:t>    - model_loader  (ACTIVE_MODEL env selects bundle)</a:t>
            </a:r>
          </a:p>
          <a:p>
            <a:r>
              <a:rPr sz="1300">
                <a:solidFill>
                  <a:srgbClr val="CCD6E0"/>
                </a:solidFill>
              </a:rPr>
              <a:t>    - LegacyXGBBundle  —  single XGBRegressor + meta.json</a:t>
            </a:r>
          </a:p>
          <a:p>
            <a:r>
              <a:rPr sz="1300">
                <a:solidFill>
                  <a:srgbClr val="CCD6E0"/>
                </a:solidFill>
              </a:rPr>
              <a:t>    - NextDayPathBundle  —  26 horizon models (one per 15-min step)</a:t>
            </a:r>
          </a:p>
          <a:p>
            <a:r>
              <a:rPr sz="1500">
                <a:solidFill>
                  <a:srgbClr val="FFFFFF"/>
                </a:solidFill>
              </a:rPr>
              <a:t>• Simulation module  —  502 symbols, reads pre-computed CSVs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D1B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164592"/>
            <a:ext cx="114300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 i="0">
                <a:solidFill>
                  <a:srgbClr val="00B4D8"/>
                </a:solidFill>
              </a:rPr>
              <a:t>Design — Key API Endpoints</a:t>
            </a:r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88952" cy="45720"/>
          </a:xfrm>
          <a:prstGeom prst="rect">
            <a:avLst/>
          </a:prstGeom>
          <a:solidFill>
            <a:srgbClr val="00B4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457200" y="1234440"/>
          <a:ext cx="11247120" cy="307238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749040"/>
                <a:gridCol w="3749040"/>
                <a:gridCol w="3749040"/>
              </a:tblGrid>
              <a:tr h="384048"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0D1B2A"/>
                          </a:solidFill>
                        </a:rPr>
                        <a:t>Endpoint</a:t>
                      </a:r>
                    </a:p>
                  </a:txBody>
                  <a:tcPr>
                    <a:solidFill>
                      <a:srgbClr val="00B4D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0D1B2A"/>
                          </a:solidFill>
                        </a:rPr>
                        <a:t>Method</a:t>
                      </a:r>
                    </a:p>
                  </a:txBody>
                  <a:tcPr>
                    <a:solidFill>
                      <a:srgbClr val="00B4D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0D1B2A"/>
                          </a:solidFill>
                        </a:rPr>
                        <a:t>Purpose</a:t>
                      </a:r>
                    </a:p>
                  </a:txBody>
                  <a:tcPr>
                    <a:solidFill>
                      <a:srgbClr val="00B4D8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FFFFFF"/>
                          </a:solidFill>
                        </a:rPr>
                        <a:t>/api/v1/inference/predict/{symbol}</a:t>
                      </a:r>
                    </a:p>
                  </a:txBody>
                  <a:tcPr>
                    <a:solidFill>
                      <a:srgbClr val="1E2F4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FFFFFF"/>
                          </a:solidFill>
                        </a:rPr>
                        <a:t>GET</a:t>
                      </a:r>
                    </a:p>
                  </a:txBody>
                  <a:tcPr>
                    <a:solidFill>
                      <a:srgbClr val="1E2F4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FFFFFF"/>
                          </a:solidFill>
                        </a:rPr>
                        <a:t>Next-day price prediction</a:t>
                      </a:r>
                    </a:p>
                  </a:txBody>
                  <a:tcPr>
                    <a:solidFill>
                      <a:srgbClr val="1E2F40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FFFFFF"/>
                          </a:solidFill>
                        </a:rPr>
                        <a:t>/api/v1/simulation/session</a:t>
                      </a:r>
                    </a:p>
                  </a:txBody>
                  <a:tcPr>
                    <a:solidFill>
                      <a:srgbClr val="16283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FFFFFF"/>
                          </a:solidFill>
                        </a:rPr>
                        <a:t>GET</a:t>
                      </a:r>
                    </a:p>
                  </a:txBody>
                  <a:tcPr>
                    <a:solidFill>
                      <a:srgbClr val="16283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FFFFFF"/>
                          </a:solidFill>
                        </a:rPr>
                        <a:t>Intraday session info (26 steps, 502 symbols)</a:t>
                      </a:r>
                    </a:p>
                  </a:txBody>
                  <a:tcPr>
                    <a:solidFill>
                      <a:srgbClr val="16283A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FFFFFF"/>
                          </a:solidFill>
                        </a:rPr>
                        <a:t>/api/v1/simulation/base/{symbol}</a:t>
                      </a:r>
                    </a:p>
                  </a:txBody>
                  <a:tcPr>
                    <a:solidFill>
                      <a:srgbClr val="1E2F4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FFFFFF"/>
                          </a:solidFill>
                        </a:rPr>
                        <a:t>GET</a:t>
                      </a:r>
                    </a:p>
                  </a:txBody>
                  <a:tcPr>
                    <a:solidFill>
                      <a:srgbClr val="1E2F4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FFFFFF"/>
                          </a:solidFill>
                        </a:rPr>
                        <a:t>Base prediction for a symbol</a:t>
                      </a:r>
                    </a:p>
                  </a:txBody>
                  <a:tcPr>
                    <a:solidFill>
                      <a:srgbClr val="1E2F40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FFFFFF"/>
                          </a:solidFill>
                        </a:rPr>
                        <a:t>/api/v1/market/stocks</a:t>
                      </a:r>
                    </a:p>
                  </a:txBody>
                  <a:tcPr>
                    <a:solidFill>
                      <a:srgbClr val="16283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FFFFFF"/>
                          </a:solidFill>
                        </a:rPr>
                        <a:t>GET</a:t>
                      </a:r>
                    </a:p>
                  </a:txBody>
                  <a:tcPr>
                    <a:solidFill>
                      <a:srgbClr val="16283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FFFFFF"/>
                          </a:solidFill>
                        </a:rPr>
                        <a:t>List all tracked tickers</a:t>
                      </a:r>
                    </a:p>
                  </a:txBody>
                  <a:tcPr>
                    <a:solidFill>
                      <a:srgbClr val="16283A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FFFFFF"/>
                          </a:solidFill>
                        </a:rPr>
                        <a:t>/api/v1/market/ohlc/{symbol}</a:t>
                      </a:r>
                    </a:p>
                  </a:txBody>
                  <a:tcPr>
                    <a:solidFill>
                      <a:srgbClr val="1E2F4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FFFFFF"/>
                          </a:solidFill>
                        </a:rPr>
                        <a:t>GET</a:t>
                      </a:r>
                    </a:p>
                  </a:txBody>
                  <a:tcPr>
                    <a:solidFill>
                      <a:srgbClr val="1E2F4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FFFFFF"/>
                          </a:solidFill>
                        </a:rPr>
                        <a:t>OHLCV time series</a:t>
                      </a:r>
                    </a:p>
                  </a:txBody>
                  <a:tcPr>
                    <a:solidFill>
                      <a:srgbClr val="1E2F40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FFFFFF"/>
                          </a:solidFill>
                        </a:rPr>
                        <a:t>/api/v1/utils/health-check/</a:t>
                      </a:r>
                    </a:p>
                  </a:txBody>
                  <a:tcPr>
                    <a:solidFill>
                      <a:srgbClr val="16283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FFFFFF"/>
                          </a:solidFill>
                        </a:rPr>
                        <a:t>GET</a:t>
                      </a:r>
                    </a:p>
                  </a:txBody>
                  <a:tcPr>
                    <a:solidFill>
                      <a:srgbClr val="16283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FFFFFF"/>
                          </a:solidFill>
                        </a:rPr>
                        <a:t>Liveness check  -&gt;  true</a:t>
                      </a:r>
                    </a:p>
                  </a:txBody>
                  <a:tcPr>
                    <a:solidFill>
                      <a:srgbClr val="16283A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FFFFFF"/>
                          </a:solidFill>
                        </a:rPr>
                        <a:t>/docs</a:t>
                      </a:r>
                    </a:p>
                  </a:txBody>
                  <a:tcPr>
                    <a:solidFill>
                      <a:srgbClr val="1E2F4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FFFFFF"/>
                          </a:solidFill>
                        </a:rPr>
                        <a:t>GET</a:t>
                      </a:r>
                    </a:p>
                  </a:txBody>
                  <a:tcPr>
                    <a:solidFill>
                      <a:srgbClr val="1E2F4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FFFFFF"/>
                          </a:solidFill>
                        </a:rPr>
                        <a:t>Swagger UI</a:t>
                      </a:r>
                    </a:p>
                  </a:txBody>
                  <a:tcPr>
                    <a:solidFill>
                      <a:srgbClr val="1E2F40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457200" y="5504688"/>
            <a:ext cx="112471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00B4D8"/>
                </a:solidFill>
              </a:rPr>
              <a:t>Simulation module: 502 symbols x 26 intraday steps — runs entirely from pre-computed CSVs, zero DB I/O.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D1B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164592"/>
            <a:ext cx="114300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 i="0">
                <a:solidFill>
                  <a:srgbClr val="00B4D8"/>
                </a:solidFill>
              </a:rPr>
              <a:t>Code — Backend Inference Route</a:t>
            </a:r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88952" cy="45720"/>
          </a:xfrm>
          <a:prstGeom prst="rect">
            <a:avLst/>
          </a:prstGeom>
          <a:solidFill>
            <a:srgbClr val="00B4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274320" y="1234440"/>
            <a:ext cx="11612880" cy="5166360"/>
          </a:xfrm>
          <a:prstGeom prst="rect">
            <a:avLst/>
          </a:prstGeom>
          <a:solidFill>
            <a:srgbClr val="102436"/>
          </a:solidFill>
          <a:ln w="12700">
            <a:solidFill>
              <a:srgbClr val="00B4D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02920" y="1307592"/>
            <a:ext cx="11155680" cy="50017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250">
                <a:solidFill>
                  <a:srgbClr val="A8D8EA"/>
                </a:solidFill>
                <a:latin typeface="Courier New"/>
              </a:rPr>
              <a:t># backend/app/modules/inference/api.py</a:t>
            </a:r>
          </a:p>
          <a:p>
            <a:r>
              <a:rPr sz="1250">
                <a:solidFill>
                  <a:srgbClr val="A8D8EA"/>
                </a:solidFill>
                <a:latin typeface="Courier New"/>
              </a:rPr>
              <a:t># GET /api/v1/inference/predict/{symbol}</a:t>
            </a:r>
          </a:p>
          <a:p>
            <a:r>
              <a:rPr sz="1250">
                <a:solidFill>
                  <a:srgbClr val="A8D8EA"/>
                </a:solidFill>
                <a:latin typeface="Courier New"/>
              </a:rPr>
              <a:t># ValueError -&gt; 404 (unknown symbol) or 400 (bad input)</a:t>
            </a:r>
          </a:p>
          <a:p>
            <a:r>
              <a:rPr sz="1250">
                <a:solidFill>
                  <a:srgbClr val="A8D8EA"/>
                </a:solidFill>
                <a:latin typeface="Courier New"/>
              </a:rPr>
              <a:t># All other exceptions -&gt; 500</a:t>
            </a:r>
          </a:p>
          <a:p>
            <a:r>
              <a:rPr sz="1250">
                <a:solidFill>
                  <a:srgbClr val="A8D8EA"/>
                </a:solidFill>
                <a:latin typeface="Courier New"/>
              </a:rPr>
              <a:t/>
            </a:r>
          </a:p>
          <a:p>
            <a:r>
              <a:rPr sz="1250">
                <a:solidFill>
                  <a:srgbClr val="A8D8EA"/>
                </a:solidFill>
                <a:latin typeface="Courier New"/>
              </a:rPr>
              <a:t>@router.get('/predict/{symbol}', response_model=NextDayPredictionResponse)</a:t>
            </a:r>
          </a:p>
          <a:p>
            <a:r>
              <a:rPr sz="1250">
                <a:solidFill>
                  <a:srgbClr val="A8D8EA"/>
                </a:solidFill>
                <a:latin typeface="Courier New"/>
              </a:rPr>
              <a:t>def predict_stock_price(</a:t>
            </a:r>
          </a:p>
          <a:p>
            <a:r>
              <a:rPr sz="1250">
                <a:solidFill>
                  <a:srgbClr val="A8D8EA"/>
                </a:solidFill>
                <a:latin typeface="Courier New"/>
              </a:rPr>
              <a:t>    symbol: str, session: SessionDep</a:t>
            </a:r>
          </a:p>
          <a:p>
            <a:r>
              <a:rPr sz="1250">
                <a:solidFill>
                  <a:srgbClr val="A8D8EA"/>
                </a:solidFill>
                <a:latin typeface="Courier New"/>
              </a:rPr>
              <a:t>) -&gt; NextDayPredictionResponse:</a:t>
            </a:r>
          </a:p>
          <a:p>
            <a:r>
              <a:rPr sz="1250">
                <a:solidFill>
                  <a:srgbClr val="A8D8EA"/>
                </a:solidFill>
                <a:latin typeface="Courier New"/>
              </a:rPr>
              <a:t>    try:</a:t>
            </a:r>
          </a:p>
          <a:p>
            <a:r>
              <a:rPr sz="1250">
                <a:solidFill>
                  <a:srgbClr val="A8D8EA"/>
                </a:solidFill>
                <a:latin typeface="Courier New"/>
              </a:rPr>
              <a:t>        return InferenceService.predict_stock_price(session, symbol.upper())</a:t>
            </a:r>
          </a:p>
          <a:p>
            <a:r>
              <a:rPr sz="1250">
                <a:solidFill>
                  <a:srgbClr val="A8D8EA"/>
                </a:solidFill>
                <a:latin typeface="Courier New"/>
              </a:rPr>
              <a:t>    except ValueError as e:</a:t>
            </a:r>
          </a:p>
          <a:p>
            <a:r>
              <a:rPr sz="1250">
                <a:solidFill>
                  <a:srgbClr val="A8D8EA"/>
                </a:solidFill>
                <a:latin typeface="Courier New"/>
              </a:rPr>
              <a:t>        error_msg = str(e)</a:t>
            </a:r>
          </a:p>
          <a:p>
            <a:r>
              <a:rPr sz="1250">
                <a:solidFill>
                  <a:srgbClr val="A8D8EA"/>
                </a:solidFill>
                <a:latin typeface="Courier New"/>
              </a:rPr>
              <a:t>        if 'not found' in error_msg.lower():</a:t>
            </a:r>
          </a:p>
          <a:p>
            <a:r>
              <a:rPr sz="1250">
                <a:solidFill>
                  <a:srgbClr val="A8D8EA"/>
                </a:solidFill>
                <a:latin typeface="Courier New"/>
              </a:rPr>
              <a:t>            raise HTTPException(status_code=404, detail=error_msg)</a:t>
            </a:r>
          </a:p>
          <a:p>
            <a:r>
              <a:rPr sz="1250">
                <a:solidFill>
                  <a:srgbClr val="A8D8EA"/>
                </a:solidFill>
                <a:latin typeface="Courier New"/>
              </a:rPr>
              <a:t>        raise HTTPException(status_code=400, detail=error_msg)</a:t>
            </a:r>
          </a:p>
          <a:p>
            <a:r>
              <a:rPr sz="1250">
                <a:solidFill>
                  <a:srgbClr val="A8D8EA"/>
                </a:solidFill>
                <a:latin typeface="Courier New"/>
              </a:rPr>
              <a:t>    except Exception as e:</a:t>
            </a:r>
          </a:p>
          <a:p>
            <a:r>
              <a:rPr sz="1250">
                <a:solidFill>
                  <a:srgbClr val="A8D8EA"/>
                </a:solidFill>
                <a:latin typeface="Courier New"/>
              </a:rPr>
              <a:t>        raise HTTPException(status_code=500,</a:t>
            </a:r>
          </a:p>
          <a:p>
            <a:r>
              <a:rPr sz="1250">
                <a:solidFill>
                  <a:srgbClr val="A8D8EA"/>
                </a:solidFill>
                <a:latin typeface="Courier New"/>
              </a:rPr>
              <a:t>                            detail=f'Prediction error: {str(e)}')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D1B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164592"/>
            <a:ext cx="114300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 i="0">
                <a:solidFill>
                  <a:srgbClr val="00B4D8"/>
                </a:solidFill>
              </a:rPr>
              <a:t>Code — CI Pipeline  (Zane's Contribution)</a:t>
            </a:r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88952" cy="45720"/>
          </a:xfrm>
          <a:prstGeom prst="rect">
            <a:avLst/>
          </a:prstGeom>
          <a:solidFill>
            <a:srgbClr val="00B4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274320" y="1234440"/>
            <a:ext cx="11612880" cy="5166360"/>
          </a:xfrm>
          <a:prstGeom prst="rect">
            <a:avLst/>
          </a:prstGeom>
          <a:solidFill>
            <a:srgbClr val="102436"/>
          </a:solidFill>
          <a:ln w="12700">
            <a:solidFill>
              <a:srgbClr val="00B4D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02920" y="1307592"/>
            <a:ext cx="11155680" cy="50017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250">
                <a:solidFill>
                  <a:srgbClr val="A8D8EA"/>
                </a:solidFill>
                <a:latin typeface="Courier New"/>
              </a:rPr>
              <a:t># .github/workflows/backend-tests.yml</a:t>
            </a:r>
          </a:p>
          <a:p>
            <a:r>
              <a:rPr sz="1250">
                <a:solidFill>
                  <a:srgbClr val="A8D8EA"/>
                </a:solidFill>
                <a:latin typeface="Courier New"/>
              </a:rPr>
              <a:t>jobs:</a:t>
            </a:r>
          </a:p>
          <a:p>
            <a:r>
              <a:rPr sz="1250">
                <a:solidFill>
                  <a:srgbClr val="A8D8EA"/>
                </a:solidFill>
                <a:latin typeface="Courier New"/>
              </a:rPr>
              <a:t>  test:</a:t>
            </a:r>
          </a:p>
          <a:p>
            <a:r>
              <a:rPr sz="1250">
                <a:solidFill>
                  <a:srgbClr val="A8D8EA"/>
                </a:solidFill>
                <a:latin typeface="Courier New"/>
              </a:rPr>
              <a:t>    runs-on: ubuntu-latest</a:t>
            </a:r>
          </a:p>
          <a:p>
            <a:r>
              <a:rPr sz="1250">
                <a:solidFill>
                  <a:srgbClr val="A8D8EA"/>
                </a:solidFill>
                <a:latin typeface="Courier New"/>
              </a:rPr>
              <a:t>    services:</a:t>
            </a:r>
          </a:p>
          <a:p>
            <a:r>
              <a:rPr sz="1250">
                <a:solidFill>
                  <a:srgbClr val="A8D8EA"/>
                </a:solidFill>
                <a:latin typeface="Courier New"/>
              </a:rPr>
              <a:t>      postgres:</a:t>
            </a:r>
          </a:p>
          <a:p>
            <a:r>
              <a:rPr sz="1250">
                <a:solidFill>
                  <a:srgbClr val="A8D8EA"/>
                </a:solidFill>
                <a:latin typeface="Courier New"/>
              </a:rPr>
              <a:t>        image: postgres:16</a:t>
            </a:r>
          </a:p>
          <a:p>
            <a:r>
              <a:rPr sz="1250">
                <a:solidFill>
                  <a:srgbClr val="A8D8EA"/>
                </a:solidFill>
                <a:latin typeface="Courier New"/>
              </a:rPr>
              <a:t>        env:</a:t>
            </a:r>
          </a:p>
          <a:p>
            <a:r>
              <a:rPr sz="1250">
                <a:solidFill>
                  <a:srgbClr val="A8D8EA"/>
                </a:solidFill>
                <a:latin typeface="Courier New"/>
              </a:rPr>
              <a:t>          POSTGRES_USER: postgres</a:t>
            </a:r>
          </a:p>
          <a:p>
            <a:r>
              <a:rPr sz="1250">
                <a:solidFill>
                  <a:srgbClr val="A8D8EA"/>
                </a:solidFill>
                <a:latin typeface="Courier New"/>
              </a:rPr>
              <a:t>          POSTGRES_DB: app</a:t>
            </a:r>
          </a:p>
          <a:p>
            <a:r>
              <a:rPr sz="1250">
                <a:solidFill>
                  <a:srgbClr val="A8D8EA"/>
                </a:solidFill>
                <a:latin typeface="Courier New"/>
              </a:rPr>
              <a:t>        options: &gt;-</a:t>
            </a:r>
          </a:p>
          <a:p>
            <a:r>
              <a:rPr sz="1250">
                <a:solidFill>
                  <a:srgbClr val="A8D8EA"/>
                </a:solidFill>
                <a:latin typeface="Courier New"/>
              </a:rPr>
              <a:t>          --health-cmd 'pg_isready -U postgres'</a:t>
            </a:r>
          </a:p>
          <a:p>
            <a:r>
              <a:rPr sz="1250">
                <a:solidFill>
                  <a:srgbClr val="A8D8EA"/>
                </a:solidFill>
                <a:latin typeface="Courier New"/>
              </a:rPr>
              <a:t>          --health-interval 5s  --health-retries 5</a:t>
            </a:r>
          </a:p>
          <a:p>
            <a:r>
              <a:rPr sz="1250">
                <a:solidFill>
                  <a:srgbClr val="A8D8EA"/>
                </a:solidFill>
                <a:latin typeface="Courier New"/>
              </a:rPr>
              <a:t>    steps:</a:t>
            </a:r>
          </a:p>
          <a:p>
            <a:r>
              <a:rPr sz="1250">
                <a:solidFill>
                  <a:srgbClr val="A8D8EA"/>
                </a:solidFill>
                <a:latin typeface="Courier New"/>
              </a:rPr>
              <a:t>      - uses: actions/checkout@v4</a:t>
            </a:r>
          </a:p>
          <a:p>
            <a:r>
              <a:rPr sz="1250">
                <a:solidFill>
                  <a:srgbClr val="A8D8EA"/>
                </a:solidFill>
                <a:latin typeface="Courier New"/>
              </a:rPr>
              <a:t>      - uses: astral-sh/setup-uv@v5</a:t>
            </a:r>
          </a:p>
          <a:p>
            <a:r>
              <a:rPr sz="1250">
                <a:solidFill>
                  <a:srgbClr val="A8D8EA"/>
                </a:solidFill>
                <a:latin typeface="Courier New"/>
              </a:rPr>
              <a:t>      - name: Install Dependencies</a:t>
            </a:r>
          </a:p>
          <a:p>
            <a:r>
              <a:rPr sz="1250">
                <a:solidFill>
                  <a:srgbClr val="A8D8EA"/>
                </a:solidFill>
                <a:latin typeface="Courier New"/>
              </a:rPr>
              <a:t>        run: uv sync --frozen</a:t>
            </a:r>
          </a:p>
          <a:p>
            <a:r>
              <a:rPr sz="1250">
                <a:solidFill>
                  <a:srgbClr val="A8D8EA"/>
                </a:solidFill>
                <a:latin typeface="Courier New"/>
              </a:rPr>
              <a:t>        working-directory: backend</a:t>
            </a:r>
          </a:p>
          <a:p>
            <a:r>
              <a:rPr sz="1250">
                <a:solidFill>
                  <a:srgbClr val="A8D8EA"/>
                </a:solidFill>
                <a:latin typeface="Courier New"/>
              </a:rPr>
              <a:t>      - name: Run Database Migrations</a:t>
            </a:r>
          </a:p>
          <a:p>
            <a:r>
              <a:rPr sz="1250">
                <a:solidFill>
                  <a:srgbClr val="A8D8EA"/>
                </a:solidFill>
                <a:latin typeface="Courier New"/>
              </a:rPr>
              <a:t>        run: uv run alembic upgrade head   # real migrations -- no mocks</a:t>
            </a:r>
          </a:p>
          <a:p>
            <a:r>
              <a:rPr sz="1250">
                <a:solidFill>
                  <a:srgbClr val="A8D8EA"/>
                </a:solidFill>
                <a:latin typeface="Courier New"/>
              </a:rPr>
              <a:t>        working-directory: backend</a:t>
            </a:r>
          </a:p>
          <a:p>
            <a:r>
              <a:rPr sz="1250">
                <a:solidFill>
                  <a:srgbClr val="A8D8EA"/>
                </a:solidFill>
                <a:latin typeface="Courier New"/>
              </a:rPr>
              <a:t>      - name: Run Pytest</a:t>
            </a:r>
          </a:p>
          <a:p>
            <a:r>
              <a:rPr sz="1250">
                <a:solidFill>
                  <a:srgbClr val="A8D8EA"/>
                </a:solidFill>
                <a:latin typeface="Courier New"/>
              </a:rPr>
              <a:t>        run: uv run pytest tests/ -v</a:t>
            </a:r>
          </a:p>
          <a:p>
            <a:r>
              <a:rPr sz="1250">
                <a:solidFill>
                  <a:srgbClr val="A8D8EA"/>
                </a:solidFill>
                <a:latin typeface="Courier New"/>
              </a:rPr>
              <a:t>        working-directory: backend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D1B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164592"/>
            <a:ext cx="114300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 i="0">
                <a:solidFill>
                  <a:srgbClr val="00B4D8"/>
                </a:solidFill>
              </a:rPr>
              <a:t>Code — Test DB Fixture  (Zane's Contribution)</a:t>
            </a:r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88952" cy="45720"/>
          </a:xfrm>
          <a:prstGeom prst="rect">
            <a:avLst/>
          </a:prstGeom>
          <a:solidFill>
            <a:srgbClr val="00B4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274320" y="1234440"/>
            <a:ext cx="11612880" cy="5166360"/>
          </a:xfrm>
          <a:prstGeom prst="rect">
            <a:avLst/>
          </a:prstGeom>
          <a:solidFill>
            <a:srgbClr val="102436"/>
          </a:solidFill>
          <a:ln w="12700">
            <a:solidFill>
              <a:srgbClr val="00B4D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02920" y="1307592"/>
            <a:ext cx="11155680" cy="50017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250">
                <a:solidFill>
                  <a:srgbClr val="A8D8EA"/>
                </a:solidFill>
                <a:latin typeface="Courier New"/>
              </a:rPr>
              <a:t># backend/tests/modules/conftest.py</a:t>
            </a:r>
          </a:p>
          <a:p>
            <a:r>
              <a:rPr sz="1250">
                <a:solidFill>
                  <a:srgbClr val="A8D8EA"/>
                </a:solidFill>
                <a:latin typeface="Courier New"/>
              </a:rPr>
              <a:t>@pytest.fixture(scope='function')</a:t>
            </a:r>
          </a:p>
          <a:p>
            <a:r>
              <a:rPr sz="1250">
                <a:solidFill>
                  <a:srgbClr val="A8D8EA"/>
                </a:solidFill>
                <a:latin typeface="Courier New"/>
              </a:rPr>
              <a:t>def market_data(db: Session):</a:t>
            </a:r>
          </a:p>
          <a:p>
            <a:r>
              <a:rPr sz="1250">
                <a:solidFill>
                  <a:srgbClr val="A8D8EA"/>
                </a:solidFill>
                <a:latin typeface="Courier New"/>
              </a:rPr>
              <a:t>    """Seeds DB with known data before each test, cleans up after."""</a:t>
            </a:r>
          </a:p>
          <a:p>
            <a:r>
              <a:rPr sz="1250">
                <a:solidFill>
                  <a:srgbClr val="A8D8EA"/>
                </a:solidFill>
                <a:latin typeface="Courier New"/>
              </a:rPr>
              <a:t>    # 1. Clean up any pre-existing data</a:t>
            </a:r>
          </a:p>
          <a:p>
            <a:r>
              <a:rPr sz="1250">
                <a:solidFill>
                  <a:srgbClr val="A8D8EA"/>
                </a:solidFill>
                <a:latin typeface="Courier New"/>
              </a:rPr>
              <a:t>    db.execute(text(</a:t>
            </a:r>
          </a:p>
          <a:p>
            <a:r>
              <a:rPr sz="1250">
                <a:solidFill>
                  <a:srgbClr val="A8D8EA"/>
                </a:solidFill>
                <a:latin typeface="Courier New"/>
              </a:rPr>
              <a:t>        "DELETE FROM market.daily_prices WHERE symbol IN ('AAPL','GOOGL','TSLA')"</a:t>
            </a:r>
          </a:p>
          <a:p>
            <a:r>
              <a:rPr sz="1250">
                <a:solidFill>
                  <a:srgbClr val="A8D8EA"/>
                </a:solidFill>
                <a:latin typeface="Courier New"/>
              </a:rPr>
              <a:t>    ))</a:t>
            </a:r>
          </a:p>
          <a:p>
            <a:r>
              <a:rPr sz="1250">
                <a:solidFill>
                  <a:srgbClr val="A8D8EA"/>
                </a:solidFill>
                <a:latin typeface="Courier New"/>
              </a:rPr>
              <a:t>    db.commit()</a:t>
            </a:r>
          </a:p>
          <a:p>
            <a:r>
              <a:rPr sz="1250">
                <a:solidFill>
                  <a:srgbClr val="A8D8EA"/>
                </a:solidFill>
                <a:latin typeface="Courier New"/>
              </a:rPr>
              <a:t/>
            </a:r>
          </a:p>
          <a:p>
            <a:r>
              <a:rPr sz="1250">
                <a:solidFill>
                  <a:srgbClr val="A8D8EA"/>
                </a:solidFill>
                <a:latin typeface="Courier New"/>
              </a:rPr>
              <a:t>    # 2. Seed 5 days of AAPL price data</a:t>
            </a:r>
          </a:p>
          <a:p>
            <a:r>
              <a:rPr sz="1250">
                <a:solidFill>
                  <a:srgbClr val="A8D8EA"/>
                </a:solidFill>
                <a:latin typeface="Courier New"/>
              </a:rPr>
              <a:t>    db.add_all([Stock(symbol='AAPL', name='Apple Inc.', is_active=True), ...])</a:t>
            </a:r>
          </a:p>
          <a:p>
            <a:r>
              <a:rPr sz="1250">
                <a:solidFill>
                  <a:srgbClr val="A8D8EA"/>
                </a:solidFill>
                <a:latin typeface="Courier New"/>
              </a:rPr>
              <a:t>    db.add_all([DailyPrice(symbol='AAPL', date=today-timedelta(days=5),</a:t>
            </a:r>
          </a:p>
          <a:p>
            <a:r>
              <a:rPr sz="1250">
                <a:solidFill>
                  <a:srgbClr val="A8D8EA"/>
                </a:solidFill>
                <a:latin typeface="Courier New"/>
              </a:rPr>
              <a:t>                           open=150.0, high=155.0, low=149.0,</a:t>
            </a:r>
          </a:p>
          <a:p>
            <a:r>
              <a:rPr sz="1250">
                <a:solidFill>
                  <a:srgbClr val="A8D8EA"/>
                </a:solidFill>
                <a:latin typeface="Courier New"/>
              </a:rPr>
              <a:t>                           close=153.0, volume=1000), ...])</a:t>
            </a:r>
          </a:p>
          <a:p>
            <a:r>
              <a:rPr sz="1250">
                <a:solidFill>
                  <a:srgbClr val="A8D8EA"/>
                </a:solidFill>
                <a:latin typeface="Courier New"/>
              </a:rPr>
              <a:t>    db.commit()</a:t>
            </a:r>
          </a:p>
          <a:p>
            <a:r>
              <a:rPr sz="1250">
                <a:solidFill>
                  <a:srgbClr val="A8D8EA"/>
                </a:solidFill>
                <a:latin typeface="Courier New"/>
              </a:rPr>
              <a:t/>
            </a:r>
          </a:p>
          <a:p>
            <a:r>
              <a:rPr sz="1250">
                <a:solidFill>
                  <a:srgbClr val="A8D8EA"/>
                </a:solidFill>
                <a:latin typeface="Courier New"/>
              </a:rPr>
              <a:t>    yield   # &lt;-- test runs here</a:t>
            </a:r>
          </a:p>
          <a:p>
            <a:r>
              <a:rPr sz="1250">
                <a:solidFill>
                  <a:srgbClr val="A8D8EA"/>
                </a:solidFill>
                <a:latin typeface="Courier New"/>
              </a:rPr>
              <a:t/>
            </a:r>
          </a:p>
          <a:p>
            <a:r>
              <a:rPr sz="1250">
                <a:solidFill>
                  <a:srgbClr val="A8D8EA"/>
                </a:solidFill>
                <a:latin typeface="Courier New"/>
              </a:rPr>
              <a:t>    # 3. Teardown -- guaranteed even if the test fails</a:t>
            </a:r>
          </a:p>
          <a:p>
            <a:r>
              <a:rPr sz="1250">
                <a:solidFill>
                  <a:srgbClr val="A8D8EA"/>
                </a:solidFill>
                <a:latin typeface="Courier New"/>
              </a:rPr>
              <a:t>    db.execute(text("DELETE FROM market.daily_prices WHERE ..."))</a:t>
            </a:r>
          </a:p>
          <a:p>
            <a:r>
              <a:rPr sz="1250">
                <a:solidFill>
                  <a:srgbClr val="A8D8EA"/>
                </a:solidFill>
                <a:latin typeface="Courier New"/>
              </a:rPr>
              <a:t>    db.commit()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D1B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164592"/>
            <a:ext cx="114300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 i="0">
                <a:solidFill>
                  <a:srgbClr val="00B4D8"/>
                </a:solidFill>
              </a:rPr>
              <a:t>Code — Testing the Inference Endpoint  (Zane's Contribution)</a:t>
            </a:r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88952" cy="45720"/>
          </a:xfrm>
          <a:prstGeom prst="rect">
            <a:avLst/>
          </a:prstGeom>
          <a:solidFill>
            <a:srgbClr val="00B4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274320" y="1234440"/>
            <a:ext cx="11612880" cy="5166360"/>
          </a:xfrm>
          <a:prstGeom prst="rect">
            <a:avLst/>
          </a:prstGeom>
          <a:solidFill>
            <a:srgbClr val="102436"/>
          </a:solidFill>
          <a:ln w="12700">
            <a:solidFill>
              <a:srgbClr val="00B4D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02920" y="1307592"/>
            <a:ext cx="11155680" cy="50017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250">
                <a:solidFill>
                  <a:srgbClr val="A8D8EA"/>
                </a:solidFill>
                <a:latin typeface="Courier New"/>
              </a:rPr>
              <a:t># backend/tests/modules/test_inference.py</a:t>
            </a:r>
          </a:p>
          <a:p>
            <a:r>
              <a:rPr sz="1250">
                <a:solidFill>
                  <a:srgbClr val="A8D8EA"/>
                </a:solidFill>
                <a:latin typeface="Courier New"/>
              </a:rPr>
              <a:t/>
            </a:r>
          </a:p>
          <a:p>
            <a:r>
              <a:rPr sz="1250">
                <a:solidFill>
                  <a:srgbClr val="A8D8EA"/>
                </a:solidFill>
                <a:latin typeface="Courier New"/>
              </a:rPr>
              <a:t>def test_predict_stock_price(client: TestClient) -&gt; None:</a:t>
            </a:r>
          </a:p>
          <a:p>
            <a:r>
              <a:rPr sz="1250">
                <a:solidFill>
                  <a:srgbClr val="A8D8EA"/>
                </a:solidFill>
                <a:latin typeface="Courier New"/>
              </a:rPr>
              <a:t>    # An unknown symbol must return 404 with a useful error message</a:t>
            </a:r>
          </a:p>
          <a:p>
            <a:r>
              <a:rPr sz="1250">
                <a:solidFill>
                  <a:srgbClr val="A8D8EA"/>
                </a:solidFill>
                <a:latin typeface="Courier New"/>
              </a:rPr>
              <a:t>    response = client.get('/api/v1/inference/predict/FAKE_SYMBOL')</a:t>
            </a:r>
          </a:p>
          <a:p>
            <a:r>
              <a:rPr sz="1250">
                <a:solidFill>
                  <a:srgbClr val="A8D8EA"/>
                </a:solidFill>
                <a:latin typeface="Courier New"/>
              </a:rPr>
              <a:t/>
            </a:r>
          </a:p>
          <a:p>
            <a:r>
              <a:rPr sz="1250">
                <a:solidFill>
                  <a:srgbClr val="A8D8EA"/>
                </a:solidFill>
                <a:latin typeface="Courier New"/>
              </a:rPr>
              <a:t>    assert response.status_code == 404</a:t>
            </a:r>
          </a:p>
          <a:p>
            <a:r>
              <a:rPr sz="1250">
                <a:solidFill>
                  <a:srgbClr val="A8D8EA"/>
                </a:solidFill>
                <a:latin typeface="Courier New"/>
              </a:rPr>
              <a:t>    assert 'not found' in response.json()['detail'].lower()</a:t>
            </a:r>
          </a:p>
          <a:p>
            <a:r>
              <a:rPr sz="1250">
                <a:solidFill>
                  <a:srgbClr val="A8D8EA"/>
                </a:solidFill>
                <a:latin typeface="Courier New"/>
              </a:rPr>
              <a:t/>
            </a:r>
          </a:p>
          <a:p>
            <a:r>
              <a:rPr sz="1250">
                <a:solidFill>
                  <a:srgbClr val="A8D8EA"/>
                </a:solidFill>
                <a:latin typeface="Courier New"/>
              </a:rPr>
              <a:t/>
            </a:r>
          </a:p>
          <a:p>
            <a:r>
              <a:rPr sz="1250">
                <a:solidFill>
                  <a:srgbClr val="A8D8EA"/>
                </a:solidFill>
                <a:latin typeface="Courier New"/>
              </a:rPr>
              <a:t># backend/tests/api/test_utils.py</a:t>
            </a:r>
          </a:p>
          <a:p>
            <a:r>
              <a:rPr sz="1250">
                <a:solidFill>
                  <a:srgbClr val="A8D8EA"/>
                </a:solidFill>
                <a:latin typeface="Courier New"/>
              </a:rPr>
              <a:t/>
            </a:r>
          </a:p>
          <a:p>
            <a:r>
              <a:rPr sz="1250">
                <a:solidFill>
                  <a:srgbClr val="A8D8EA"/>
                </a:solidFill>
                <a:latin typeface="Courier New"/>
              </a:rPr>
              <a:t>def test_health_check(client: TestClient) -&gt; None:</a:t>
            </a:r>
          </a:p>
          <a:p>
            <a:r>
              <a:rPr sz="1250">
                <a:solidFill>
                  <a:srgbClr val="A8D8EA"/>
                </a:solidFill>
                <a:latin typeface="Courier New"/>
              </a:rPr>
              <a:t>    response = client.get('/api/v1/utils/health-check/')</a:t>
            </a:r>
          </a:p>
          <a:p>
            <a:r>
              <a:rPr sz="1250">
                <a:solidFill>
                  <a:srgbClr val="A8D8EA"/>
                </a:solidFill>
                <a:latin typeface="Courier New"/>
              </a:rPr>
              <a:t/>
            </a:r>
          </a:p>
          <a:p>
            <a:r>
              <a:rPr sz="1250">
                <a:solidFill>
                  <a:srgbClr val="A8D8EA"/>
                </a:solidFill>
                <a:latin typeface="Courier New"/>
              </a:rPr>
              <a:t>    assert response.status_code == 200</a:t>
            </a:r>
          </a:p>
          <a:p>
            <a:r>
              <a:rPr sz="1250">
                <a:solidFill>
                  <a:srgbClr val="A8D8EA"/>
                </a:solidFill>
                <a:latin typeface="Courier New"/>
              </a:rPr>
              <a:t>    assert response.json() is True</a:t>
            </a:r>
          </a:p>
          <a:p>
            <a:r>
              <a:rPr sz="1250">
                <a:solidFill>
                  <a:srgbClr val="A8D8EA"/>
                </a:solidFill>
                <a:latin typeface="Courier New"/>
              </a:rPr>
              <a:t/>
            </a:r>
          </a:p>
          <a:p>
            <a:r>
              <a:rPr sz="1250">
                <a:solidFill>
                  <a:srgbClr val="A8D8EA"/>
                </a:solidFill>
                <a:latin typeface="Courier New"/>
              </a:rPr>
              <a:t/>
            </a:r>
          </a:p>
          <a:p>
            <a:r>
              <a:rPr sz="1250">
                <a:solidFill>
                  <a:srgbClr val="A8D8EA"/>
                </a:solidFill>
                <a:latin typeface="Courier New"/>
              </a:rPr>
              <a:t># Known gap: test_predict_stock_price_success_mock is a placeholder `pass`</a:t>
            </a:r>
          </a:p>
          <a:p>
            <a:r>
              <a:rPr sz="1250">
                <a:solidFill>
                  <a:srgbClr val="A8D8EA"/>
                </a:solidFill>
                <a:latin typeface="Courier New"/>
              </a:rPr>
              <a:t># Success path requires seeded DB data -- documented as KB-4 in Testing Guide.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D1B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164592"/>
            <a:ext cx="114300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 i="0">
                <a:solidFill>
                  <a:srgbClr val="00B4D8"/>
                </a:solidFill>
              </a:rPr>
              <a:t>Code — Market Service Tests  (Zane's Contribution)</a:t>
            </a:r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88952" cy="45720"/>
          </a:xfrm>
          <a:prstGeom prst="rect">
            <a:avLst/>
          </a:prstGeom>
          <a:solidFill>
            <a:srgbClr val="00B4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274320" y="1234440"/>
            <a:ext cx="11612880" cy="5166360"/>
          </a:xfrm>
          <a:prstGeom prst="rect">
            <a:avLst/>
          </a:prstGeom>
          <a:solidFill>
            <a:srgbClr val="102436"/>
          </a:solidFill>
          <a:ln w="12700">
            <a:solidFill>
              <a:srgbClr val="00B4D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02920" y="1307592"/>
            <a:ext cx="11155680" cy="50017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250">
                <a:solidFill>
                  <a:srgbClr val="A8D8EA"/>
                </a:solidFill>
                <a:latin typeface="Courier New"/>
              </a:rPr>
              <a:t># backend/tests/modules/test_market_service.py</a:t>
            </a:r>
          </a:p>
          <a:p>
            <a:r>
              <a:rPr sz="1250">
                <a:solidFill>
                  <a:srgbClr val="A8D8EA"/>
                </a:solidFill>
                <a:latin typeface="Courier New"/>
              </a:rPr>
              <a:t/>
            </a:r>
          </a:p>
          <a:p>
            <a:r>
              <a:rPr sz="1250">
                <a:solidFill>
                  <a:srgbClr val="A8D8EA"/>
                </a:solidFill>
                <a:latin typeface="Courier New"/>
              </a:rPr>
              <a:t>def test_list_stocks_returns_stock_read_objects(db: Session, market_data):</a:t>
            </a:r>
          </a:p>
          <a:p>
            <a:r>
              <a:rPr sz="1250">
                <a:solidFill>
                  <a:srgbClr val="A8D8EA"/>
                </a:solidFill>
                <a:latin typeface="Courier New"/>
              </a:rPr>
              <a:t>    stocks = MarketService.list_stocks(db)</a:t>
            </a:r>
          </a:p>
          <a:p>
            <a:r>
              <a:rPr sz="1250">
                <a:solidFill>
                  <a:srgbClr val="A8D8EA"/>
                </a:solidFill>
                <a:latin typeface="Courier New"/>
              </a:rPr>
              <a:t>    assert isinstance(stocks, list) and len(stocks) &gt; 0</a:t>
            </a:r>
          </a:p>
          <a:p>
            <a:r>
              <a:rPr sz="1250">
                <a:solidFill>
                  <a:srgbClr val="A8D8EA"/>
                </a:solidFill>
                <a:latin typeface="Courier New"/>
              </a:rPr>
              <a:t>    assert isinstance(stocks[0], StockRead)</a:t>
            </a:r>
          </a:p>
          <a:p>
            <a:r>
              <a:rPr sz="1250">
                <a:solidFill>
                  <a:srgbClr val="A8D8EA"/>
                </a:solidFill>
                <a:latin typeface="Courier New"/>
              </a:rPr>
              <a:t>    aapl = next(s for s in stocks if s.symbol == 'AAPL')</a:t>
            </a:r>
          </a:p>
          <a:p>
            <a:r>
              <a:rPr sz="1250">
                <a:solidFill>
                  <a:srgbClr val="A8D8EA"/>
                </a:solidFill>
                <a:latin typeface="Courier New"/>
              </a:rPr>
              <a:t>    assert aapl.name == 'Apple Inc.'</a:t>
            </a:r>
          </a:p>
          <a:p>
            <a:r>
              <a:rPr sz="1250">
                <a:solidFill>
                  <a:srgbClr val="A8D8EA"/>
                </a:solidFill>
                <a:latin typeface="Courier New"/>
              </a:rPr>
              <a:t/>
            </a:r>
          </a:p>
          <a:p>
            <a:r>
              <a:rPr sz="1250">
                <a:solidFill>
                  <a:srgbClr val="A8D8EA"/>
                </a:solidFill>
                <a:latin typeface="Courier New"/>
              </a:rPr>
              <a:t/>
            </a:r>
          </a:p>
          <a:p>
            <a:r>
              <a:rPr sz="1250">
                <a:solidFill>
                  <a:srgbClr val="A8D8EA"/>
                </a:solidFill>
                <a:latin typeface="Courier New"/>
              </a:rPr>
              <a:t>def test_get_ohlc_converts_timestamps(db: Session, market_data):</a:t>
            </a:r>
          </a:p>
          <a:p>
            <a:r>
              <a:rPr sz="1250">
                <a:solidFill>
                  <a:srgbClr val="A8D8EA"/>
                </a:solidFill>
                <a:latin typeface="Courier New"/>
              </a:rPr>
              <a:t>    # Service must return Unix timestamps (int), not Python date objects</a:t>
            </a:r>
          </a:p>
          <a:p>
            <a:r>
              <a:rPr sz="1250">
                <a:solidFill>
                  <a:srgbClr val="A8D8EA"/>
                </a:solidFill>
                <a:latin typeface="Courier New"/>
              </a:rPr>
              <a:t>    ohlc_data = MarketService.get_ohlc(db, 'AAPL', days=10)</a:t>
            </a:r>
          </a:p>
          <a:p>
            <a:r>
              <a:rPr sz="1250">
                <a:solidFill>
                  <a:srgbClr val="A8D8EA"/>
                </a:solidFill>
                <a:latin typeface="Courier New"/>
              </a:rPr>
              <a:t>    assert isinstance(ohlc_data[0].time, int)</a:t>
            </a:r>
          </a:p>
          <a:p>
            <a:r>
              <a:rPr sz="1250">
                <a:solidFill>
                  <a:srgbClr val="A8D8EA"/>
                </a:solidFill>
                <a:latin typeface="Courier New"/>
              </a:rPr>
              <a:t>    assert ohlc_data[0].time &gt; 946684800   # sanity: &gt; year 2000</a:t>
            </a:r>
          </a:p>
          <a:p>
            <a:r>
              <a:rPr sz="1250">
                <a:solidFill>
                  <a:srgbClr val="A8D8EA"/>
                </a:solidFill>
                <a:latin typeface="Courier New"/>
              </a:rPr>
              <a:t/>
            </a:r>
          </a:p>
          <a:p>
            <a:r>
              <a:rPr sz="1250">
                <a:solidFill>
                  <a:srgbClr val="A8D8EA"/>
                </a:solidFill>
                <a:latin typeface="Courier New"/>
              </a:rPr>
              <a:t/>
            </a:r>
          </a:p>
          <a:p>
            <a:r>
              <a:rPr sz="1250">
                <a:solidFill>
                  <a:srgbClr val="A8D8EA"/>
                </a:solidFill>
                <a:latin typeface="Courier New"/>
              </a:rPr>
              <a:t>def test_get_ohlc_empty_range(db: Session, market_data):</a:t>
            </a:r>
          </a:p>
          <a:p>
            <a:r>
              <a:rPr sz="1250">
                <a:solidFill>
                  <a:srgbClr val="A8D8EA"/>
                </a:solidFill>
                <a:latin typeface="Courier New"/>
              </a:rPr>
              <a:t>    # GOOGL exists but has no prices seeded -&gt; must return []</a:t>
            </a:r>
          </a:p>
          <a:p>
            <a:r>
              <a:rPr sz="1250">
                <a:solidFill>
                  <a:srgbClr val="A8D8EA"/>
                </a:solidFill>
                <a:latin typeface="Courier New"/>
              </a:rPr>
              <a:t>    result = MarketService.get_ohlc(db, 'GOOGL', days=30)</a:t>
            </a:r>
          </a:p>
          <a:p>
            <a:r>
              <a:rPr sz="1250">
                <a:solidFill>
                  <a:srgbClr val="A8D8EA"/>
                </a:solidFill>
                <a:latin typeface="Courier New"/>
              </a:rPr>
              <a:t>    assert isinstance(result, list) and len(result) == 0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D1B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164592"/>
            <a:ext cx="114300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 i="0">
                <a:solidFill>
                  <a:srgbClr val="00B4D8"/>
                </a:solidFill>
              </a:rPr>
              <a:t>Testing Results — Internal and UAT</a:t>
            </a:r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88952" cy="45720"/>
          </a:xfrm>
          <a:prstGeom prst="rect">
            <a:avLst/>
          </a:prstGeom>
          <a:solidFill>
            <a:srgbClr val="00B4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457200" y="1234440"/>
          <a:ext cx="11247120" cy="345643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811780"/>
                <a:gridCol w="2811780"/>
                <a:gridCol w="2811780"/>
                <a:gridCol w="2811780"/>
              </a:tblGrid>
              <a:tr h="384048"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0D1B2A"/>
                          </a:solidFill>
                        </a:rPr>
                        <a:t>ID</a:t>
                      </a:r>
                    </a:p>
                  </a:txBody>
                  <a:tcPr>
                    <a:solidFill>
                      <a:srgbClr val="00B4D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0D1B2A"/>
                          </a:solidFill>
                        </a:rPr>
                        <a:t>Test Description</a:t>
                      </a:r>
                    </a:p>
                  </a:txBody>
                  <a:tcPr>
                    <a:solidFill>
                      <a:srgbClr val="00B4D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0D1B2A"/>
                          </a:solidFill>
                        </a:rPr>
                        <a:t>Type</a:t>
                      </a:r>
                    </a:p>
                  </a:txBody>
                  <a:tcPr>
                    <a:solidFill>
                      <a:srgbClr val="00B4D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0D1B2A"/>
                          </a:solidFill>
                        </a:rPr>
                        <a:t>Result</a:t>
                      </a:r>
                    </a:p>
                  </a:txBody>
                  <a:tcPr>
                    <a:solidFill>
                      <a:srgbClr val="00B4D8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FFFFFF"/>
                          </a:solidFill>
                        </a:rPr>
                        <a:t>TC_API_01</a:t>
                      </a:r>
                    </a:p>
                  </a:txBody>
                  <a:tcPr>
                    <a:solidFill>
                      <a:srgbClr val="1E2F4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FFFFFF"/>
                          </a:solidFill>
                        </a:rPr>
                        <a:t>GET /utils/health-check/ -&gt; 200, true</a:t>
                      </a:r>
                    </a:p>
                  </a:txBody>
                  <a:tcPr>
                    <a:solidFill>
                      <a:srgbClr val="1E2F4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FFFFFF"/>
                          </a:solidFill>
                        </a:rPr>
                        <a:t>Automated</a:t>
                      </a:r>
                    </a:p>
                  </a:txBody>
                  <a:tcPr>
                    <a:solidFill>
                      <a:srgbClr val="1E2F4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FFFFFF"/>
                          </a:solidFill>
                        </a:rPr>
                        <a:t>Pass</a:t>
                      </a:r>
                    </a:p>
                  </a:txBody>
                  <a:tcPr>
                    <a:solidFill>
                      <a:srgbClr val="1E2F40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FFFFFF"/>
                          </a:solidFill>
                        </a:rPr>
                        <a:t>TC_API_02</a:t>
                      </a:r>
                    </a:p>
                  </a:txBody>
                  <a:tcPr>
                    <a:solidFill>
                      <a:srgbClr val="16283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FFFFFF"/>
                          </a:solidFill>
                        </a:rPr>
                        <a:t>GET /inference/predict/FAKE_SYMBOL -&gt; 404, 'not found'</a:t>
                      </a:r>
                    </a:p>
                  </a:txBody>
                  <a:tcPr>
                    <a:solidFill>
                      <a:srgbClr val="16283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FFFFFF"/>
                          </a:solidFill>
                        </a:rPr>
                        <a:t>Automated</a:t>
                      </a:r>
                    </a:p>
                  </a:txBody>
                  <a:tcPr>
                    <a:solidFill>
                      <a:srgbClr val="16283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FFFFFF"/>
                          </a:solidFill>
                        </a:rPr>
                        <a:t>Pass</a:t>
                      </a:r>
                    </a:p>
                  </a:txBody>
                  <a:tcPr>
                    <a:solidFill>
                      <a:srgbClr val="16283A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FFFFFF"/>
                          </a:solidFill>
                        </a:rPr>
                        <a:t>TC_ML_01</a:t>
                      </a:r>
                    </a:p>
                  </a:txBody>
                  <a:tcPr>
                    <a:solidFill>
                      <a:srgbClr val="1E2F4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FFFFFF"/>
                          </a:solidFill>
                        </a:rPr>
                        <a:t>list_stocks() returns list of StockRead objects</a:t>
                      </a:r>
                    </a:p>
                  </a:txBody>
                  <a:tcPr>
                    <a:solidFill>
                      <a:srgbClr val="1E2F4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FFFFFF"/>
                          </a:solidFill>
                        </a:rPr>
                        <a:t>Automated</a:t>
                      </a:r>
                    </a:p>
                  </a:txBody>
                  <a:tcPr>
                    <a:solidFill>
                      <a:srgbClr val="1E2F4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FFFFFF"/>
                          </a:solidFill>
                        </a:rPr>
                        <a:t>Pass</a:t>
                      </a:r>
                    </a:p>
                  </a:txBody>
                  <a:tcPr>
                    <a:solidFill>
                      <a:srgbClr val="1E2F40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FFFFFF"/>
                          </a:solidFill>
                        </a:rPr>
                        <a:t>TC_ML_02</a:t>
                      </a:r>
                    </a:p>
                  </a:txBody>
                  <a:tcPr>
                    <a:solidFill>
                      <a:srgbClr val="16283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FFFFFF"/>
                          </a:solidFill>
                        </a:rPr>
                        <a:t>get_ohlc() timestamp field is int (Unix)</a:t>
                      </a:r>
                    </a:p>
                  </a:txBody>
                  <a:tcPr>
                    <a:solidFill>
                      <a:srgbClr val="16283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FFFFFF"/>
                          </a:solidFill>
                        </a:rPr>
                        <a:t>Automated</a:t>
                      </a:r>
                    </a:p>
                  </a:txBody>
                  <a:tcPr>
                    <a:solidFill>
                      <a:srgbClr val="16283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FFFFFF"/>
                          </a:solidFill>
                        </a:rPr>
                        <a:t>Pass</a:t>
                      </a:r>
                    </a:p>
                  </a:txBody>
                  <a:tcPr>
                    <a:solidFill>
                      <a:srgbClr val="16283A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FFFFFF"/>
                          </a:solidFill>
                        </a:rPr>
                        <a:t>TC_ML_03</a:t>
                      </a:r>
                    </a:p>
                  </a:txBody>
                  <a:tcPr>
                    <a:solidFill>
                      <a:srgbClr val="1E2F4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FFFFFF"/>
                          </a:solidFill>
                        </a:rPr>
                        <a:t>get_ohlc() returns [] for symbol with no prices</a:t>
                      </a:r>
                    </a:p>
                  </a:txBody>
                  <a:tcPr>
                    <a:solidFill>
                      <a:srgbClr val="1E2F4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FFFFFF"/>
                          </a:solidFill>
                        </a:rPr>
                        <a:t>Automated</a:t>
                      </a:r>
                    </a:p>
                  </a:txBody>
                  <a:tcPr>
                    <a:solidFill>
                      <a:srgbClr val="1E2F4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FFFFFF"/>
                          </a:solidFill>
                        </a:rPr>
                        <a:t>Pass</a:t>
                      </a:r>
                    </a:p>
                  </a:txBody>
                  <a:tcPr>
                    <a:solidFill>
                      <a:srgbClr val="1E2F40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FFFFFF"/>
                          </a:solidFill>
                        </a:rPr>
                        <a:t>UAT_UI_01</a:t>
                      </a:r>
                    </a:p>
                  </a:txBody>
                  <a:tcPr>
                    <a:solidFill>
                      <a:srgbClr val="16283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FFFFFF"/>
                          </a:solidFill>
                        </a:rPr>
                        <a:t>Dashboard loads, charts render, no console errors</a:t>
                      </a:r>
                    </a:p>
                  </a:txBody>
                  <a:tcPr>
                    <a:solidFill>
                      <a:srgbClr val="16283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FFFFFF"/>
                          </a:solidFill>
                        </a:rPr>
                        <a:t>Manual</a:t>
                      </a:r>
                    </a:p>
                  </a:txBody>
                  <a:tcPr>
                    <a:solidFill>
                      <a:srgbClr val="16283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FFFFFF"/>
                          </a:solidFill>
                        </a:rPr>
                        <a:t>Accept</a:t>
                      </a:r>
                    </a:p>
                  </a:txBody>
                  <a:tcPr>
                    <a:solidFill>
                      <a:srgbClr val="16283A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FFFFFF"/>
                          </a:solidFill>
                        </a:rPr>
                        <a:t>UAT_UI_02</a:t>
                      </a:r>
                    </a:p>
                  </a:txBody>
                  <a:tcPr>
                    <a:solidFill>
                      <a:srgbClr val="1E2F4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FFFFFF"/>
                          </a:solidFill>
                        </a:rPr>
                        <a:t>Symbol switch updates chart correctly</a:t>
                      </a:r>
                    </a:p>
                  </a:txBody>
                  <a:tcPr>
                    <a:solidFill>
                      <a:srgbClr val="1E2F4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FFFFFF"/>
                          </a:solidFill>
                        </a:rPr>
                        <a:t>Manual</a:t>
                      </a:r>
                    </a:p>
                  </a:txBody>
                  <a:tcPr>
                    <a:solidFill>
                      <a:srgbClr val="1E2F4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FFFFFF"/>
                          </a:solidFill>
                        </a:rPr>
                        <a:t>Accept</a:t>
                      </a:r>
                    </a:p>
                  </a:txBody>
                  <a:tcPr>
                    <a:solidFill>
                      <a:srgbClr val="1E2F40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FFFFFF"/>
                          </a:solidFill>
                        </a:rPr>
                        <a:t>UAT_UI_03</a:t>
                      </a:r>
                    </a:p>
                  </a:txBody>
                  <a:tcPr>
                    <a:solidFill>
                      <a:srgbClr val="16283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FFFFFF"/>
                          </a:solidFill>
                        </a:rPr>
                        <a:t>Browser resize -&gt; chart reflows</a:t>
                      </a:r>
                    </a:p>
                  </a:txBody>
                  <a:tcPr>
                    <a:solidFill>
                      <a:srgbClr val="16283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FFFFFF"/>
                          </a:solidFill>
                        </a:rPr>
                        <a:t>Manual</a:t>
                      </a:r>
                    </a:p>
                  </a:txBody>
                  <a:tcPr>
                    <a:solidFill>
                      <a:srgbClr val="16283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FFFFFF"/>
                          </a:solidFill>
                        </a:rPr>
                        <a:t>Accept</a:t>
                      </a:r>
                    </a:p>
                  </a:txBody>
                  <a:tcPr>
                    <a:solidFill>
                      <a:srgbClr val="16283A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457200" y="5532120"/>
            <a:ext cx="112471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00B4D8"/>
                </a:solidFill>
              </a:rPr>
              <a:t>42 isolated test cases  |  &lt;4 seconds total  |  ~81% coverage  |  Real Postgres in CI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D1B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164592"/>
            <a:ext cx="114300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 i="0">
                <a:solidFill>
                  <a:srgbClr val="00B4D8"/>
                </a:solidFill>
              </a:rPr>
              <a:t>Refactoring and Change Requests</a:t>
            </a:r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88952" cy="45720"/>
          </a:xfrm>
          <a:prstGeom prst="rect">
            <a:avLst/>
          </a:prstGeom>
          <a:solidFill>
            <a:srgbClr val="00B4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457200" y="1234440"/>
          <a:ext cx="11247120" cy="230428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811780"/>
                <a:gridCol w="2811780"/>
                <a:gridCol w="2811780"/>
                <a:gridCol w="2811780"/>
              </a:tblGrid>
              <a:tr h="384048"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0D1B2A"/>
                          </a:solidFill>
                        </a:rPr>
                        <a:t>CR</a:t>
                      </a:r>
                    </a:p>
                  </a:txBody>
                  <a:tcPr>
                    <a:solidFill>
                      <a:srgbClr val="00B4D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0D1B2A"/>
                          </a:solidFill>
                        </a:rPr>
                        <a:t>Filed By</a:t>
                      </a:r>
                    </a:p>
                  </a:txBody>
                  <a:tcPr>
                    <a:solidFill>
                      <a:srgbClr val="00B4D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0D1B2A"/>
                          </a:solidFill>
                        </a:rPr>
                        <a:t>Change</a:t>
                      </a:r>
                    </a:p>
                  </a:txBody>
                  <a:tcPr>
                    <a:solidFill>
                      <a:srgbClr val="00B4D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0D1B2A"/>
                          </a:solidFill>
                        </a:rPr>
                        <a:t>Result</a:t>
                      </a:r>
                    </a:p>
                  </a:txBody>
                  <a:tcPr>
                    <a:solidFill>
                      <a:srgbClr val="00B4D8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FFFFFF"/>
                          </a:solidFill>
                        </a:rPr>
                        <a:t>CR-001</a:t>
                      </a:r>
                    </a:p>
                  </a:txBody>
                  <a:tcPr>
                    <a:solidFill>
                      <a:srgbClr val="1E2F4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FFFFFF"/>
                          </a:solidFill>
                        </a:rPr>
                        <a:t>Harsh Kumar</a:t>
                      </a:r>
                    </a:p>
                  </a:txBody>
                  <a:tcPr>
                    <a:solidFill>
                      <a:srgbClr val="1E2F4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FFFFFF"/>
                          </a:solidFill>
                        </a:rPr>
                        <a:t>Sync -&gt; async SQLAlchemy (asyncpg)</a:t>
                      </a:r>
                    </a:p>
                  </a:txBody>
                  <a:tcPr>
                    <a:solidFill>
                      <a:srgbClr val="1E2F4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FFFFFF"/>
                          </a:solidFill>
                        </a:rPr>
                        <a:t>Latency: 800 ms -&gt; &lt;100 ms</a:t>
                      </a:r>
                    </a:p>
                  </a:txBody>
                  <a:tcPr>
                    <a:solidFill>
                      <a:srgbClr val="1E2F40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FFFFFF"/>
                          </a:solidFill>
                        </a:rPr>
                        <a:t>CR-002</a:t>
                      </a:r>
                    </a:p>
                  </a:txBody>
                  <a:tcPr>
                    <a:solidFill>
                      <a:srgbClr val="16283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FFFFFF"/>
                          </a:solidFill>
                        </a:rPr>
                        <a:t>KavalS</a:t>
                      </a:r>
                    </a:p>
                  </a:txBody>
                  <a:tcPr>
                    <a:solidFill>
                      <a:srgbClr val="16283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FFFFFF"/>
                          </a:solidFill>
                        </a:rPr>
                        <a:t>CRA/Webpack -&gt; Vite</a:t>
                      </a:r>
                    </a:p>
                  </a:txBody>
                  <a:tcPr>
                    <a:solidFill>
                      <a:srgbClr val="16283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FFFFFF"/>
                          </a:solidFill>
                        </a:rPr>
                        <a:t>Dev HMR: 15 s -&gt; &lt;1 s</a:t>
                      </a:r>
                    </a:p>
                  </a:txBody>
                  <a:tcPr>
                    <a:solidFill>
                      <a:srgbClr val="16283A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FFFFFF"/>
                          </a:solidFill>
                        </a:rPr>
                        <a:t>CR-003</a:t>
                      </a:r>
                    </a:p>
                  </a:txBody>
                  <a:tcPr>
                    <a:solidFill>
                      <a:srgbClr val="1E2F4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FFFFFF"/>
                          </a:solidFill>
                        </a:rPr>
                        <a:t>Zane</a:t>
                      </a:r>
                    </a:p>
                  </a:txBody>
                  <a:tcPr>
                    <a:solidFill>
                      <a:srgbClr val="1E2F4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FFFFFF"/>
                          </a:solidFill>
                        </a:rPr>
                        <a:t>Drop TimescaleDB for MVP</a:t>
                      </a:r>
                    </a:p>
                  </a:txBody>
                  <a:tcPr>
                    <a:solidFill>
                      <a:srgbClr val="1E2F4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FFFFFF"/>
                          </a:solidFill>
                        </a:rPr>
                        <a:t>Removed complexity crashing on Windows</a:t>
                      </a:r>
                    </a:p>
                  </a:txBody>
                  <a:tcPr>
                    <a:solidFill>
                      <a:srgbClr val="1E2F40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FFFFFF"/>
                          </a:solidFill>
                        </a:rPr>
                        <a:t>MISC</a:t>
                      </a:r>
                    </a:p>
                  </a:txBody>
                  <a:tcPr>
                    <a:solidFill>
                      <a:srgbClr val="16283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FFFFFF"/>
                          </a:solidFill>
                        </a:rPr>
                        <a:t>Zane</a:t>
                      </a:r>
                    </a:p>
                  </a:txBody>
                  <a:tcPr>
                    <a:solidFill>
                      <a:srgbClr val="16283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FFFFFF"/>
                          </a:solidFill>
                        </a:rPr>
                        <a:t>CORS policy hardened</a:t>
                      </a:r>
                    </a:p>
                  </a:txBody>
                  <a:tcPr>
                    <a:solidFill>
                      <a:srgbClr val="16283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FFFFFF"/>
                          </a:solidFill>
                        </a:rPr>
                        <a:t>Was blocking all browser requests (HTTP 500)</a:t>
                      </a:r>
                    </a:p>
                  </a:txBody>
                  <a:tcPr>
                    <a:solidFill>
                      <a:srgbClr val="16283A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FFFFFF"/>
                          </a:solidFill>
                        </a:rPr>
                        <a:t>MISC</a:t>
                      </a:r>
                    </a:p>
                  </a:txBody>
                  <a:tcPr>
                    <a:solidFill>
                      <a:srgbClr val="1E2F4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FFFFFF"/>
                          </a:solidFill>
                        </a:rPr>
                        <a:t>Team</a:t>
                      </a:r>
                    </a:p>
                  </a:txBody>
                  <a:tcPr>
                    <a:solidFill>
                      <a:srgbClr val="1E2F4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FFFFFF"/>
                          </a:solidFill>
                        </a:rPr>
                        <a:t>DB column width for stock symbols</a:t>
                      </a:r>
                    </a:p>
                  </a:txBody>
                  <a:tcPr>
                    <a:solidFill>
                      <a:srgbClr val="1E2F4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FFFFFF"/>
                          </a:solidFill>
                        </a:rPr>
                        <a:t>Was truncating tickers &gt; 6 characters</a:t>
                      </a:r>
                    </a:p>
                  </a:txBody>
                  <a:tcPr>
                    <a:solidFill>
                      <a:srgbClr val="1E2F40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457200" y="5413248"/>
            <a:ext cx="112471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00B4D8"/>
                </a:solidFill>
              </a:rPr>
              <a:t>All CRs reviewed and approved through GitHub Issues with change-request label.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D1B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164592"/>
            <a:ext cx="114300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 i="0">
                <a:solidFill>
                  <a:srgbClr val="00B4D8"/>
                </a:solidFill>
              </a:rPr>
              <a:t>Release v1.0.0</a:t>
            </a:r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88952" cy="45720"/>
          </a:xfrm>
          <a:prstGeom prst="rect">
            <a:avLst/>
          </a:prstGeom>
          <a:solidFill>
            <a:srgbClr val="00B4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65760" y="1234440"/>
            <a:ext cx="54864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1" i="0">
                <a:solidFill>
                  <a:srgbClr val="00B4D8"/>
                </a:solidFill>
              </a:rPr>
              <a:t>Release Details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1691640"/>
            <a:ext cx="5486400" cy="4663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500">
                <a:solidFill>
                  <a:srgbClr val="FFFFFF"/>
                </a:solidFill>
              </a:rPr>
              <a:t>• Version: 1.0.0</a:t>
            </a:r>
          </a:p>
          <a:p>
            <a:r>
              <a:rPr sz="1500">
                <a:solidFill>
                  <a:srgbClr val="FFFFFF"/>
                </a:solidFill>
              </a:rPr>
              <a:t>• Date: 2026-03-24</a:t>
            </a:r>
          </a:p>
          <a:p>
            <a:r>
              <a:rPr sz="1500">
                <a:solidFill>
                  <a:srgbClr val="FFFFFF"/>
                </a:solidFill>
              </a:rPr>
              <a:t>• Tag: v1.0.0 on main — all CI gates green</a:t>
            </a:r>
          </a:p>
          <a:p>
            <a:r>
              <a:rPr sz="1500">
                <a:solidFill>
                  <a:srgbClr val="FFFFFF"/>
                </a:solidFill>
              </a:rPr>
              <a:t>• Package: the-project-maverick_Delivery_V1.0.0.zip</a:t>
            </a:r>
          </a:p>
          <a:p>
            <a:r>
              <a:rPr sz="1300">
                <a:solidFill>
                  <a:srgbClr val="CCD6E0"/>
                </a:solidFill>
              </a:rPr>
              <a:t>    - backend/  frontend/  Documentation/</a:t>
            </a:r>
          </a:p>
          <a:p>
            <a:r>
              <a:rPr sz="1300">
                <a:solidFill>
                  <a:srgbClr val="CCD6E0"/>
                </a:solidFill>
              </a:rPr>
              <a:t>    - docker-compose.yml  README.md</a:t>
            </a:r>
          </a:p>
        </p:txBody>
      </p:sp>
      <p:sp>
        <p:nvSpPr>
          <p:cNvPr id="6" name="Rectangle 5"/>
          <p:cNvSpPr/>
          <p:nvPr/>
        </p:nvSpPr>
        <p:spPr>
          <a:xfrm>
            <a:off x="6099048" y="1234440"/>
            <a:ext cx="22860" cy="5212080"/>
          </a:xfrm>
          <a:prstGeom prst="rect">
            <a:avLst/>
          </a:prstGeom>
          <a:solidFill>
            <a:srgbClr val="1E2F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263640" y="1234440"/>
            <a:ext cx="54864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1" i="0">
                <a:solidFill>
                  <a:srgbClr val="00B4D8"/>
                </a:solidFill>
              </a:rPr>
              <a:t>What Shipped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263640" y="1691640"/>
            <a:ext cx="5486400" cy="4663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500">
                <a:solidFill>
                  <a:srgbClr val="FFFFFF"/>
                </a:solidFill>
              </a:rPr>
              <a:t>• React dashboard MVP — chart, symbol selector, prediction overlay</a:t>
            </a:r>
          </a:p>
          <a:p>
            <a:r>
              <a:rPr sz="1500">
                <a:solidFill>
                  <a:srgbClr val="FFFFFF"/>
                </a:solidFill>
              </a:rPr>
              <a:t>• Async FastAPI backend with 6 modular router groups</a:t>
            </a:r>
          </a:p>
          <a:p>
            <a:r>
              <a:rPr sz="1500">
                <a:solidFill>
                  <a:srgbClr val="FFFFFF"/>
                </a:solidFill>
              </a:rPr>
              <a:t>• XGBoost bundle system (LegacyXGB + NextDayPath)</a:t>
            </a:r>
          </a:p>
          <a:p>
            <a:r>
              <a:rPr sz="1500">
                <a:solidFill>
                  <a:srgbClr val="FFFFFF"/>
                </a:solidFill>
              </a:rPr>
              <a:t>• PostgreSQL schema via Alembic migrations</a:t>
            </a:r>
          </a:p>
          <a:p>
            <a:r>
              <a:rPr sz="1500">
                <a:solidFill>
                  <a:srgbClr val="FFFFFF"/>
                </a:solidFill>
              </a:rPr>
              <a:t>• Simulation module — 502 symbols x 26 intraday steps</a:t>
            </a:r>
          </a:p>
          <a:p>
            <a:r>
              <a:rPr sz="1500">
                <a:solidFill>
                  <a:srgbClr val="FFFFFF"/>
                </a:solidFill>
              </a:rPr>
              <a:t>• Full documentation suite — Zane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D1B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164592"/>
            <a:ext cx="114300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 i="0">
                <a:solidFill>
                  <a:srgbClr val="00B4D8"/>
                </a:solidFill>
              </a:rPr>
              <a:t>Reference from Customer / Instructor</a:t>
            </a:r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88952" cy="45720"/>
          </a:xfrm>
          <a:prstGeom prst="rect">
            <a:avLst/>
          </a:prstGeom>
          <a:solidFill>
            <a:srgbClr val="00B4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234440"/>
            <a:ext cx="11247120" cy="5212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600">
                <a:solidFill>
                  <a:srgbClr val="FFFFFF"/>
                </a:solidFill>
              </a:rPr>
              <a:t>• UAT conducted with course instructor after final demo session</a:t>
            </a:r>
          </a:p>
          <a:p>
            <a:r>
              <a:rPr sz="1600">
                <a:solidFill>
                  <a:srgbClr val="FFFFFF"/>
                </a:solidFill>
              </a:rPr>
              <a:t>• Feedback summary:</a:t>
            </a:r>
          </a:p>
          <a:p>
            <a:r>
              <a:rPr sz="1400">
                <a:solidFill>
                  <a:srgbClr val="CCD6E0"/>
                </a:solidFill>
              </a:rPr>
              <a:t>    - Dashboard and API acceptable for course demonstration</a:t>
            </a:r>
          </a:p>
          <a:p>
            <a:r>
              <a:rPr sz="1400">
                <a:solidFill>
                  <a:srgbClr val="CCD6E0"/>
                </a:solidFill>
              </a:rPr>
              <a:t>    - Documentation completeness confirmed — all required documents present</a:t>
            </a:r>
          </a:p>
          <a:p>
            <a:r>
              <a:rPr sz="1400">
                <a:solidFill>
                  <a:srgbClr val="CCD6E0"/>
                </a:solidFill>
              </a:rPr>
              <a:t>    - Testing Guide approved for peer session use</a:t>
            </a:r>
          </a:p>
          <a:p>
            <a:r>
              <a:rPr sz="1600">
                <a:solidFill>
                  <a:srgbClr val="FFFFFF"/>
                </a:solidFill>
              </a:rPr>
              <a:t>• Peer testing session:</a:t>
            </a:r>
          </a:p>
          <a:p>
            <a:r>
              <a:rPr sz="1400">
                <a:solidFill>
                  <a:srgbClr val="CCD6E0"/>
                </a:solidFill>
              </a:rPr>
              <a:t>    - Handout: Documentation/COSC471_Testing_Guide_Internal.md</a:t>
            </a:r>
          </a:p>
          <a:p>
            <a:r>
              <a:rPr sz="1400">
                <a:solidFill>
                  <a:srgbClr val="CCD6E0"/>
                </a:solidFill>
              </a:rPr>
              <a:t>    - Students test using the matrix in Section 3 of the guide</a:t>
            </a:r>
          </a:p>
          <a:p>
            <a:r>
              <a:rPr sz="1400">
                <a:solidFill>
                  <a:srgbClr val="CCD6E0"/>
                </a:solidFill>
              </a:rPr>
              <a:t>    - Known bugs pre-disclosed in Section 5 — no surprises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5212080"/>
            <a:ext cx="103327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0" i="1">
                <a:solidFill>
                  <a:srgbClr val="CCD6E0"/>
                </a:solidFill>
              </a:rPr>
              <a:t>[ Insert instructor quote or email screenshot here after review session ]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D1B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164592"/>
            <a:ext cx="114300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 i="0">
                <a:solidFill>
                  <a:srgbClr val="00B4D8"/>
                </a:solidFill>
              </a:rPr>
              <a:t>Summary and Conclusion</a:t>
            </a:r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88952" cy="45720"/>
          </a:xfrm>
          <a:prstGeom prst="rect">
            <a:avLst/>
          </a:prstGeom>
          <a:solidFill>
            <a:srgbClr val="00B4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65760" y="1234440"/>
            <a:ext cx="54864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1" i="0">
                <a:solidFill>
                  <a:srgbClr val="00B4D8"/>
                </a:solidFill>
              </a:rPr>
              <a:t>What We Delivered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1691640"/>
            <a:ext cx="5486400" cy="4663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500">
                <a:solidFill>
                  <a:srgbClr val="FFFFFF"/>
                </a:solidFill>
              </a:rPr>
              <a:t>• Full-stack stock prediction platform aligned to Vision and Business Case</a:t>
            </a:r>
          </a:p>
          <a:p>
            <a:r>
              <a:rPr sz="1500">
                <a:solidFill>
                  <a:srgbClr val="FFFFFF"/>
                </a:solidFill>
              </a:rPr>
              <a:t>• Modular FastAPI + versioned XGBoost bundles + containerised Postgres</a:t>
            </a:r>
          </a:p>
          <a:p>
            <a:r>
              <a:rPr sz="1500">
                <a:solidFill>
                  <a:srgbClr val="FFFFFF"/>
                </a:solidFill>
              </a:rPr>
              <a:t>• Simulation module: 502 symbols, 26 intraday steps, zero DB I/O</a:t>
            </a:r>
          </a:p>
          <a:p>
            <a:r>
              <a:rPr sz="1500">
                <a:solidFill>
                  <a:srgbClr val="FFFFFF"/>
                </a:solidFill>
              </a:rPr>
              <a:t>• Engineering process: Git Flow, Conventional Commits, CI/CD, ~81% coverage</a:t>
            </a:r>
          </a:p>
        </p:txBody>
      </p:sp>
      <p:sp>
        <p:nvSpPr>
          <p:cNvPr id="6" name="Rectangle 5"/>
          <p:cNvSpPr/>
          <p:nvPr/>
        </p:nvSpPr>
        <p:spPr>
          <a:xfrm>
            <a:off x="6099048" y="1234440"/>
            <a:ext cx="22860" cy="5212080"/>
          </a:xfrm>
          <a:prstGeom prst="rect">
            <a:avLst/>
          </a:prstGeom>
          <a:solidFill>
            <a:srgbClr val="1E2F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263640" y="1234440"/>
            <a:ext cx="54864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1" i="0">
                <a:solidFill>
                  <a:srgbClr val="00B4D8"/>
                </a:solidFill>
              </a:rPr>
              <a:t>What We're Proud Of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263640" y="1691640"/>
            <a:ext cx="5486400" cy="4663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500">
                <a:solidFill>
                  <a:srgbClr val="FFFFFF"/>
                </a:solidFill>
              </a:rPr>
              <a:t>• Real integration tests against a real DB — not mocked fakes</a:t>
            </a:r>
          </a:p>
          <a:p>
            <a:r>
              <a:rPr sz="1500">
                <a:solidFill>
                  <a:srgbClr val="FFFFFF"/>
                </a:solidFill>
              </a:rPr>
              <a:t>• Async refactor cut latency by 8x (800 ms -&gt; &lt;100 ms)</a:t>
            </a:r>
          </a:p>
          <a:p>
            <a:r>
              <a:rPr sz="1500">
                <a:solidFill>
                  <a:srgbClr val="FFFFFF"/>
                </a:solidFill>
              </a:rPr>
              <a:t>• Known gaps honestly documented:</a:t>
            </a:r>
          </a:p>
          <a:p>
            <a:r>
              <a:rPr sz="1300">
                <a:solidFill>
                  <a:srgbClr val="CCD6E0"/>
                </a:solidFill>
              </a:rPr>
              <a:t>    - WebSocket streaming (ISSUE-22) -&gt; v1.1</a:t>
            </a:r>
          </a:p>
          <a:p>
            <a:r>
              <a:rPr sz="1300">
                <a:solidFill>
                  <a:srgbClr val="CCD6E0"/>
                </a:solidFill>
              </a:rPr>
              <a:t>    - Docker image size (ISSUE-25) -&gt; multi-stage build</a:t>
            </a:r>
          </a:p>
          <a:p>
            <a:r>
              <a:rPr sz="1300">
                <a:solidFill>
                  <a:srgbClr val="CCD6E0"/>
                </a:solidFill>
              </a:rPr>
              <a:t>    - Inference success-path test (KB-4) -&gt; needs DB seed in CI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D1B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164592"/>
            <a:ext cx="114300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 i="0">
                <a:solidFill>
                  <a:srgbClr val="00B4D8"/>
                </a:solidFill>
              </a:rPr>
              <a:t>Live Demonstration Checklist</a:t>
            </a:r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88952" cy="45720"/>
          </a:xfrm>
          <a:prstGeom prst="rect">
            <a:avLst/>
          </a:prstGeom>
          <a:solidFill>
            <a:srgbClr val="00B4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234440"/>
            <a:ext cx="11247120" cy="5212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500">
                <a:solidFill>
                  <a:srgbClr val="FFFFFF"/>
                </a:solidFill>
              </a:rPr>
              <a:t>• Before class:  docker compose up  -- wait for prestart to finish</a:t>
            </a:r>
          </a:p>
          <a:p>
            <a:r>
              <a:rPr sz="1500">
                <a:solidFill>
                  <a:srgbClr val="FFFFFF"/>
                </a:solidFill>
              </a:rPr>
              <a:t>• 1.  http://localhost:8000/docs  -&gt;  Swagger UI loads, all routers listed</a:t>
            </a:r>
          </a:p>
          <a:p>
            <a:r>
              <a:rPr sz="1500">
                <a:solidFill>
                  <a:srgbClr val="FFFFFF"/>
                </a:solidFill>
              </a:rPr>
              <a:t>• 2.  GET /api/v1/utils/health-check/  -&gt;  true</a:t>
            </a:r>
          </a:p>
          <a:p>
            <a:r>
              <a:rPr sz="1500">
                <a:solidFill>
                  <a:srgbClr val="FFFFFF"/>
                </a:solidFill>
              </a:rPr>
              <a:t>• 3.  GET /api/v1/inference/predict/AAPL  -&gt;  show prediction payload</a:t>
            </a:r>
          </a:p>
          <a:p>
            <a:r>
              <a:rPr sz="1500">
                <a:solidFill>
                  <a:srgbClr val="FFFFFF"/>
                </a:solidFill>
              </a:rPr>
              <a:t>• 4.  GET /api/v1/inference/predict/FAKESYM99  -&gt;  404 with 'not found'</a:t>
            </a:r>
          </a:p>
          <a:p>
            <a:r>
              <a:rPr sz="1500">
                <a:solidFill>
                  <a:srgbClr val="FFFFFF"/>
                </a:solidFill>
              </a:rPr>
              <a:t>• 5.  GET /api/v1/simulation/session  -&gt;  26 steps, 502 symbols, replay_date</a:t>
            </a:r>
          </a:p>
          <a:p>
            <a:r>
              <a:rPr sz="1500">
                <a:solidFill>
                  <a:srgbClr val="FFFFFF"/>
                </a:solidFill>
              </a:rPr>
              <a:t>• 6.  http://localhost:5173  -&gt;  dashboard loads, no console errors</a:t>
            </a:r>
          </a:p>
          <a:p>
            <a:r>
              <a:rPr sz="1500">
                <a:solidFill>
                  <a:srgbClr val="FFFFFF"/>
                </a:solidFill>
              </a:rPr>
              <a:t>• 7.  Select a symbol  -&gt;  chart updates with prediction overlay</a:t>
            </a:r>
          </a:p>
          <a:p>
            <a:r>
              <a:rPr sz="1500">
                <a:solidFill>
                  <a:srgbClr val="FFFFFF"/>
                </a:solidFill>
              </a:rPr>
              <a:t>• 8.  Resize browser  -&gt;  chart reflows correctly</a:t>
            </a:r>
          </a:p>
          <a:p>
            <a:r>
              <a:rPr sz="1500">
                <a:solidFill>
                  <a:srgbClr val="FFFFFF"/>
                </a:solidFill>
              </a:rPr>
              <a:t>• 9.  http://localhost:8082  -&gt;  Adminer, show market.stocks + market.daily_prices</a:t>
            </a:r>
          </a:p>
          <a:p>
            <a:r>
              <a:rPr sz="1500">
                <a:solidFill>
                  <a:srgbClr val="FFFFFF"/>
                </a:solidFill>
              </a:rPr>
              <a:t>• 10. GitHub Actions green CI run  (screenshot if no live network)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D1B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2286000"/>
            <a:ext cx="12188952" cy="1828800"/>
          </a:xfrm>
          <a:prstGeom prst="rect">
            <a:avLst/>
          </a:prstGeom>
          <a:solidFill>
            <a:srgbClr val="1E2F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2231136"/>
            <a:ext cx="12188952" cy="54864"/>
          </a:xfrm>
          <a:prstGeom prst="rect">
            <a:avLst/>
          </a:prstGeom>
          <a:solidFill>
            <a:srgbClr val="00B4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4133087"/>
            <a:ext cx="12188952" cy="54864"/>
          </a:xfrm>
          <a:prstGeom prst="rect">
            <a:avLst/>
          </a:prstGeom>
          <a:solidFill>
            <a:srgbClr val="00B4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0" y="2340864"/>
            <a:ext cx="12188952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5400" b="1" i="0">
                <a:solidFill>
                  <a:srgbClr val="00B4D8"/>
                </a:solidFill>
              </a:rPr>
              <a:t>Q &amp; 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0" y="3200400"/>
            <a:ext cx="12188952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 i="0">
                <a:solidFill>
                  <a:srgbClr val="FFFFFF"/>
                </a:solidFill>
              </a:rPr>
              <a:t>10-15 minutes  |  Students and professors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4343400"/>
            <a:ext cx="112471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0" i="0">
                <a:solidFill>
                  <a:srgbClr val="CCD6E0"/>
                </a:solidFill>
              </a:rPr>
              <a:t>Model assumptions  *  Not financial advice  *  Why XGBoost  *  Async trade-offs  *  Roadmap  *  Test gaps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D1B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2560320"/>
            <a:ext cx="12188952" cy="1737360"/>
          </a:xfrm>
          <a:prstGeom prst="rect">
            <a:avLst/>
          </a:prstGeom>
          <a:solidFill>
            <a:srgbClr val="1E2F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2505456"/>
            <a:ext cx="12188952" cy="54864"/>
          </a:xfrm>
          <a:prstGeom prst="rect">
            <a:avLst/>
          </a:prstGeom>
          <a:solidFill>
            <a:srgbClr val="00B4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4315968"/>
            <a:ext cx="12188952" cy="54864"/>
          </a:xfrm>
          <a:prstGeom prst="rect">
            <a:avLst/>
          </a:prstGeom>
          <a:solidFill>
            <a:srgbClr val="00B4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0" y="2624328"/>
            <a:ext cx="12188952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600" b="1" i="0">
                <a:solidFill>
                  <a:srgbClr val="00B4D8"/>
                </a:solidFill>
              </a:rPr>
              <a:t>Thank You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0" y="3401568"/>
            <a:ext cx="12188952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0" i="0">
                <a:solidFill>
                  <a:srgbClr val="FFFFFF"/>
                </a:solidFill>
              </a:rPr>
              <a:t>the-project-maverick  |  COSC 471  |  Computer Science  |  Okanagan College  |  2026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0" y="4663440"/>
            <a:ext cx="12188952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0" i="0">
                <a:solidFill>
                  <a:srgbClr val="CCD6E0"/>
                </a:solidFill>
              </a:rPr>
              <a:t>Testing Guide handout: Documentation/COSC471_Testing_Guide_Internal.md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